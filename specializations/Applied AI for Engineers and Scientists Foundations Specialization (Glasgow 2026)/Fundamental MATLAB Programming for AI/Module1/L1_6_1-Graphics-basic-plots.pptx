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sldIdLst>
    <p:sldId id="256" r:id="rId5"/>
    <p:sldId id="494" r:id="rId6"/>
    <p:sldId id="496" r:id="rId7"/>
    <p:sldId id="497" r:id="rId8"/>
    <p:sldId id="498" r:id="rId9"/>
    <p:sldId id="499" r:id="rId10"/>
    <p:sldId id="500" r:id="rId11"/>
    <p:sldId id="501" r:id="rId12"/>
    <p:sldId id="273" r:id="rId13"/>
    <p:sldId id="49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3359" autoAdjust="0"/>
    <p:restoredTop sz="96327"/>
  </p:normalViewPr>
  <p:slideViewPr>
    <p:cSldViewPr snapToGrid="0">
      <p:cViewPr varScale="1">
        <p:scale>
          <a:sx n="104" d="100"/>
          <a:sy n="104" d="100"/>
        </p:scale>
        <p:origin x="60" y="180"/>
      </p:cViewPr>
      <p:guideLst/>
    </p:cSldViewPr>
  </p:slideViewPr>
  <p:outlineViewPr>
    <p:cViewPr>
      <p:scale>
        <a:sx n="30" d="100"/>
        <a:sy n="3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95AE2-43AC-144B-AE88-DCB376799F11}" type="datetimeFigureOut">
              <a:rPr lang="en-US" smtClean="0"/>
              <a:t>6/21/2024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4E5BB-E6B0-B84A-ABCD-9A3E9C2D7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4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202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0593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7127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8809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1687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1822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1725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946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6393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E31514-F8EA-5D4E-B45D-65DD78DB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252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91D55F9-A3F2-1242-A5F3-5AAACC9DB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9408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3015529"/>
            <a:ext cx="5680364" cy="623598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4273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1283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8039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65B24-645B-1746-9651-55C209C5E2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10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21/06/2024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9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2" r:id="rId2"/>
    <p:sldLayoutId id="2147483653" r:id="rId3"/>
    <p:sldLayoutId id="2147483649" r:id="rId4"/>
    <p:sldLayoutId id="2147483654" r:id="rId5"/>
    <p:sldLayoutId id="2147483656" r:id="rId6"/>
    <p:sldLayoutId id="2147483684" r:id="rId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he Gilbert Scott Building">
            <a:extLst>
              <a:ext uri="{FF2B5EF4-FFF2-40B4-BE49-F238E27FC236}">
                <a16:creationId xmlns:a16="http://schemas.microsoft.com/office/drawing/2014/main" id="{BAB3C4BD-A67A-4D47-6D5C-637F167E7C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8210986" cy="78970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MATLAB Graphics: Basic Plots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FC54586-8882-6804-A250-091EB79369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418" y="2576945"/>
            <a:ext cx="5680364" cy="1062182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Professor Bo Liu</a:t>
            </a:r>
          </a:p>
          <a:p>
            <a:r>
              <a:rPr lang="en-GB" dirty="0">
                <a:solidFill>
                  <a:schemeClr val="tx1"/>
                </a:solidFill>
              </a:rPr>
              <a:t>James Watt School of Engineering</a:t>
            </a:r>
          </a:p>
        </p:txBody>
      </p:sp>
    </p:spTree>
    <p:extLst>
      <p:ext uri="{BB962C8B-B14F-4D97-AF65-F5344CB8AC3E}">
        <p14:creationId xmlns:p14="http://schemas.microsoft.com/office/powerpoint/2010/main" val="424417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Example plot - 1</a:t>
            </a:r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6113AB5-2B79-24D0-2E81-191C4AE30863}"/>
              </a:ext>
            </a:extLst>
          </p:cNvPr>
          <p:cNvGrpSpPr/>
          <p:nvPr/>
        </p:nvGrpSpPr>
        <p:grpSpPr>
          <a:xfrm>
            <a:off x="444759" y="1618963"/>
            <a:ext cx="9613642" cy="963265"/>
            <a:chOff x="528735" y="1770605"/>
            <a:chExt cx="9613642" cy="963265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1127A846-2FC7-1CA4-D6D4-7A10785061C1}"/>
                </a:ext>
              </a:extLst>
            </p:cNvPr>
            <p:cNvSpPr/>
            <p:nvPr/>
          </p:nvSpPr>
          <p:spPr>
            <a:xfrm>
              <a:off x="528735" y="1770605"/>
              <a:ext cx="9613642" cy="963265"/>
            </a:xfrm>
            <a:prstGeom prst="roundRect">
              <a:avLst>
                <a:gd name="adj" fmla="val 9492"/>
              </a:avLst>
            </a:prstGeom>
            <a:solidFill>
              <a:srgbClr val="F2F2F2"/>
            </a:solidFill>
            <a:ln>
              <a:solidFill>
                <a:schemeClr val="tx2">
                  <a:lumMod val="95000"/>
                  <a:lumOff val="5000"/>
                </a:schemeClr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GB" sz="1600" dirty="0">
                  <a:solidFill>
                    <a:schemeClr val="tx2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time = </a:t>
              </a:r>
              <a:r>
                <a:rPr lang="en-GB" sz="1600" dirty="0" err="1">
                  <a:solidFill>
                    <a:schemeClr val="tx2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linspace</a:t>
              </a:r>
              <a:r>
                <a:rPr lang="en-GB" sz="1600" dirty="0">
                  <a:solidFill>
                    <a:schemeClr val="tx2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(0, 10, 21); </a:t>
              </a:r>
              <a:r>
                <a:rPr lang="en-GB" sz="1600" dirty="0">
                  <a:solidFill>
                    <a:schemeClr val="tx1"/>
                  </a:solidFill>
                  <a:latin typeface="Consolas" panose="020B0609020204030204" pitchFamily="49" charset="0"/>
                </a:rPr>
                <a:t>		</a:t>
              </a:r>
              <a:r>
                <a:rPr lang="en-GB" sz="1600" dirty="0">
                  <a:solidFill>
                    <a:srgbClr val="008013"/>
                  </a:solidFill>
                  <a:latin typeface="Consolas" panose="020B0609020204030204" pitchFamily="49" charset="0"/>
                </a:rPr>
                <a:t>% matrix of 21 elements between 0 and 10</a:t>
              </a:r>
            </a:p>
            <a:p>
              <a:pPr marL="0" indent="0">
                <a:buNone/>
              </a:pPr>
              <a:r>
                <a:rPr lang="en-GB" sz="1600" dirty="0">
                  <a:solidFill>
                    <a:schemeClr val="tx2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acceleration = 9.81 * ones(1, 21); </a:t>
              </a:r>
              <a:r>
                <a:rPr lang="en-GB" sz="1600" dirty="0">
                  <a:solidFill>
                    <a:schemeClr val="tx1"/>
                  </a:solidFill>
                  <a:latin typeface="Consolas" panose="020B0609020204030204" pitchFamily="49" charset="0"/>
                </a:rPr>
                <a:t>	</a:t>
              </a:r>
              <a:r>
                <a:rPr lang="en-GB" sz="1600" dirty="0">
                  <a:solidFill>
                    <a:srgbClr val="008013"/>
                  </a:solidFill>
                  <a:latin typeface="Consolas" panose="020B0609020204030204" pitchFamily="49" charset="0"/>
                </a:rPr>
                <a:t>% matrix of 21 elements equal to 9.81</a:t>
              </a:r>
            </a:p>
            <a:p>
              <a:pPr marL="0" indent="0">
                <a:buNone/>
              </a:pPr>
              <a:r>
                <a:rPr lang="en-GB" sz="1600" dirty="0">
                  <a:solidFill>
                    <a:schemeClr val="tx2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plot(time, acceleration) </a:t>
              </a:r>
              <a:r>
                <a:rPr lang="en-GB" sz="1600" dirty="0">
                  <a:solidFill>
                    <a:schemeClr val="tx1"/>
                  </a:solidFill>
                  <a:latin typeface="Consolas" panose="020B0609020204030204" pitchFamily="49" charset="0"/>
                </a:rPr>
                <a:t>		</a:t>
              </a:r>
              <a:r>
                <a:rPr lang="en-GB" sz="1600" dirty="0">
                  <a:solidFill>
                    <a:srgbClr val="008013"/>
                  </a:solidFill>
                  <a:latin typeface="Consolas" panose="020B0609020204030204" pitchFamily="49" charset="0"/>
                </a:rPr>
                <a:t>% line plot</a:t>
              </a:r>
            </a:p>
          </p:txBody>
        </p:sp>
        <p:sp>
          <p:nvSpPr>
            <p:cNvPr id="3" name="Rectangle 6">
              <a:extLst>
                <a:ext uri="{FF2B5EF4-FFF2-40B4-BE49-F238E27FC236}">
                  <a16:creationId xmlns:a16="http://schemas.microsoft.com/office/drawing/2014/main" id="{74954CC2-E0E6-E667-4AE4-9D532CAB22EC}"/>
                </a:ext>
              </a:extLst>
            </p:cNvPr>
            <p:cNvSpPr/>
            <p:nvPr/>
          </p:nvSpPr>
          <p:spPr>
            <a:xfrm>
              <a:off x="575390" y="2354544"/>
              <a:ext cx="2932922" cy="285357"/>
            </a:xfrm>
            <a:prstGeom prst="roundRect">
              <a:avLst/>
            </a:prstGeom>
            <a:solidFill>
              <a:srgbClr val="FF0000">
                <a:alpha val="10000"/>
              </a:srgbClr>
            </a:solidFill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6" name="Content Placeholder 9" descr="Chart&#10;&#10;Description automatically generated">
            <a:extLst>
              <a:ext uri="{FF2B5EF4-FFF2-40B4-BE49-F238E27FC236}">
                <a16:creationId xmlns:a16="http://schemas.microsoft.com/office/drawing/2014/main" id="{D02C0773-6875-9F88-5710-BA3751415E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3284" y="2696780"/>
            <a:ext cx="5333333" cy="400000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63681061-E7B5-6924-034F-EDC72A179C69}"/>
              </a:ext>
            </a:extLst>
          </p:cNvPr>
          <p:cNvSpPr/>
          <p:nvPr/>
        </p:nvSpPr>
        <p:spPr>
          <a:xfrm>
            <a:off x="8257593" y="6234142"/>
            <a:ext cx="3601616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chemeClr val="tx2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See live script for similar examples</a:t>
            </a:r>
            <a:endParaRPr lang="zh-CN" altLang="en-US" dirty="0">
              <a:solidFill>
                <a:schemeClr val="tx2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6015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Example plot - 2</a:t>
            </a:r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E5DCF1A-DEA0-15C1-17E1-AF2591DC7908}"/>
              </a:ext>
            </a:extLst>
          </p:cNvPr>
          <p:cNvGrpSpPr/>
          <p:nvPr/>
        </p:nvGrpSpPr>
        <p:grpSpPr>
          <a:xfrm>
            <a:off x="444759" y="1618964"/>
            <a:ext cx="9613642" cy="405780"/>
            <a:chOff x="528735" y="1770606"/>
            <a:chExt cx="9613642" cy="405780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F34ACC7F-13E2-549C-2344-799F8DA73882}"/>
                </a:ext>
              </a:extLst>
            </p:cNvPr>
            <p:cNvSpPr/>
            <p:nvPr/>
          </p:nvSpPr>
          <p:spPr>
            <a:xfrm>
              <a:off x="528735" y="1770606"/>
              <a:ext cx="9613642" cy="405780"/>
            </a:xfrm>
            <a:prstGeom prst="roundRect">
              <a:avLst>
                <a:gd name="adj" fmla="val 9492"/>
              </a:avLst>
            </a:prstGeom>
            <a:solidFill>
              <a:srgbClr val="F2F2F2"/>
            </a:solidFill>
            <a:ln>
              <a:solidFill>
                <a:schemeClr val="tx2">
                  <a:lumMod val="95000"/>
                  <a:lumOff val="5000"/>
                </a:schemeClr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GB" sz="1600" dirty="0">
                  <a:solidFill>
                    <a:schemeClr val="tx2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title(</a:t>
              </a:r>
              <a:r>
                <a:rPr lang="en-GB" sz="1600" dirty="0">
                  <a:solidFill>
                    <a:srgbClr val="A709F5"/>
                  </a:solidFill>
                  <a:latin typeface="Consolas" panose="020B0609020204030204" pitchFamily="49" charset="0"/>
                </a:rPr>
                <a:t>"Acceleration in a vacuum on Earth's surface"</a:t>
              </a:r>
              <a:r>
                <a:rPr lang="en-GB" sz="1600" dirty="0">
                  <a:solidFill>
                    <a:schemeClr val="tx2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)</a:t>
              </a:r>
            </a:p>
          </p:txBody>
        </p:sp>
        <p:sp>
          <p:nvSpPr>
            <p:cNvPr id="4" name="Rectangle 6">
              <a:extLst>
                <a:ext uri="{FF2B5EF4-FFF2-40B4-BE49-F238E27FC236}">
                  <a16:creationId xmlns:a16="http://schemas.microsoft.com/office/drawing/2014/main" id="{777F9EA8-F3F4-BEFA-0DC7-C5BDCCF8FD65}"/>
                </a:ext>
              </a:extLst>
            </p:cNvPr>
            <p:cNvSpPr/>
            <p:nvPr/>
          </p:nvSpPr>
          <p:spPr>
            <a:xfrm>
              <a:off x="528735" y="1830817"/>
              <a:ext cx="5965372" cy="285357"/>
            </a:xfrm>
            <a:prstGeom prst="roundRect">
              <a:avLst/>
            </a:prstGeom>
            <a:solidFill>
              <a:srgbClr val="FF0000">
                <a:alpha val="10000"/>
              </a:srgbClr>
            </a:solidFill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Content Placeholder 8" descr="Chart, box and whisker chart&#10;&#10;Description automatically generated">
            <a:extLst>
              <a:ext uri="{FF2B5EF4-FFF2-40B4-BE49-F238E27FC236}">
                <a16:creationId xmlns:a16="http://schemas.microsoft.com/office/drawing/2014/main" id="{1E1BDA68-C66C-FC40-1728-7A24A4D185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333" y="2152800"/>
            <a:ext cx="5333333" cy="4000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139C626-765C-E9A1-9D7B-0152CE460267}"/>
              </a:ext>
            </a:extLst>
          </p:cNvPr>
          <p:cNvSpPr/>
          <p:nvPr/>
        </p:nvSpPr>
        <p:spPr>
          <a:xfrm>
            <a:off x="3015269" y="2159996"/>
            <a:ext cx="3418261" cy="329234"/>
          </a:xfrm>
          <a:prstGeom prst="rect">
            <a:avLst/>
          </a:prstGeom>
          <a:solidFill>
            <a:srgbClr val="FF0000">
              <a:alpha val="10000"/>
            </a:srgbClr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矩形 8">
            <a:extLst>
              <a:ext uri="{FF2B5EF4-FFF2-40B4-BE49-F238E27FC236}">
                <a16:creationId xmlns:a16="http://schemas.microsoft.com/office/drawing/2014/main" id="{A4B70B24-D856-A21C-C60F-E9941D37D59D}"/>
              </a:ext>
            </a:extLst>
          </p:cNvPr>
          <p:cNvSpPr/>
          <p:nvPr/>
        </p:nvSpPr>
        <p:spPr>
          <a:xfrm>
            <a:off x="8257593" y="6234142"/>
            <a:ext cx="3601616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chemeClr val="tx2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See live script for similar examples</a:t>
            </a:r>
            <a:endParaRPr lang="zh-CN" altLang="en-US" dirty="0">
              <a:solidFill>
                <a:schemeClr val="tx2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5970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Example plot - 3</a:t>
            </a:r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20DA896-8538-67B5-9664-966DA668F599}"/>
              </a:ext>
            </a:extLst>
          </p:cNvPr>
          <p:cNvGrpSpPr/>
          <p:nvPr/>
        </p:nvGrpSpPr>
        <p:grpSpPr>
          <a:xfrm>
            <a:off x="444759" y="1618964"/>
            <a:ext cx="9613642" cy="405780"/>
            <a:chOff x="528735" y="1770606"/>
            <a:chExt cx="9613642" cy="405780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C2EC8160-7880-19A8-4668-D4E499B14C79}"/>
                </a:ext>
              </a:extLst>
            </p:cNvPr>
            <p:cNvSpPr/>
            <p:nvPr/>
          </p:nvSpPr>
          <p:spPr>
            <a:xfrm>
              <a:off x="528735" y="1770606"/>
              <a:ext cx="9613642" cy="405780"/>
            </a:xfrm>
            <a:prstGeom prst="roundRect">
              <a:avLst>
                <a:gd name="adj" fmla="val 9492"/>
              </a:avLst>
            </a:prstGeom>
            <a:solidFill>
              <a:srgbClr val="F2F2F2"/>
            </a:solidFill>
            <a:ln>
              <a:solidFill>
                <a:schemeClr val="tx2">
                  <a:lumMod val="95000"/>
                  <a:lumOff val="5000"/>
                </a:schemeClr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GB" sz="1600" dirty="0" err="1">
                  <a:solidFill>
                    <a:schemeClr val="tx2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xlabel</a:t>
              </a:r>
              <a:r>
                <a:rPr lang="en-GB" sz="1600" dirty="0">
                  <a:solidFill>
                    <a:schemeClr val="tx2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(</a:t>
              </a:r>
              <a:r>
                <a:rPr lang="en-GB" sz="1600" dirty="0">
                  <a:solidFill>
                    <a:srgbClr val="A76CFB"/>
                  </a:solidFill>
                  <a:latin typeface="Consolas" panose="020B0609020204030204" pitchFamily="49" charset="0"/>
                </a:rPr>
                <a:t>"Time (s)"</a:t>
              </a:r>
              <a:r>
                <a:rPr lang="en-GB" sz="1600" dirty="0">
                  <a:solidFill>
                    <a:schemeClr val="tx2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)</a:t>
              </a:r>
            </a:p>
          </p:txBody>
        </p:sp>
        <p:sp>
          <p:nvSpPr>
            <p:cNvPr id="4" name="Rectangle 6">
              <a:extLst>
                <a:ext uri="{FF2B5EF4-FFF2-40B4-BE49-F238E27FC236}">
                  <a16:creationId xmlns:a16="http://schemas.microsoft.com/office/drawing/2014/main" id="{2397F357-455F-C2B7-E585-3047DE746E57}"/>
                </a:ext>
              </a:extLst>
            </p:cNvPr>
            <p:cNvSpPr/>
            <p:nvPr/>
          </p:nvSpPr>
          <p:spPr>
            <a:xfrm>
              <a:off x="528735" y="1830817"/>
              <a:ext cx="2214465" cy="285357"/>
            </a:xfrm>
            <a:prstGeom prst="roundRect">
              <a:avLst/>
            </a:prstGeom>
            <a:solidFill>
              <a:srgbClr val="FF0000">
                <a:alpha val="10000"/>
              </a:srgbClr>
            </a:solidFill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 descr="Chart, box and whisker chart&#10;&#10;Description automatically generated">
            <a:extLst>
              <a:ext uri="{FF2B5EF4-FFF2-40B4-BE49-F238E27FC236}">
                <a16:creationId xmlns:a16="http://schemas.microsoft.com/office/drawing/2014/main" id="{C8A2A663-36E9-EE98-AAC8-B64AEC1FFA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333" y="2152800"/>
            <a:ext cx="5333333" cy="4000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9E9EDAF-3D85-5E38-7441-9760B6B9C033}"/>
              </a:ext>
            </a:extLst>
          </p:cNvPr>
          <p:cNvSpPr/>
          <p:nvPr/>
        </p:nvSpPr>
        <p:spPr>
          <a:xfrm>
            <a:off x="4162873" y="5883601"/>
            <a:ext cx="1123054" cy="255597"/>
          </a:xfrm>
          <a:prstGeom prst="rect">
            <a:avLst/>
          </a:prstGeom>
          <a:solidFill>
            <a:srgbClr val="FF0000">
              <a:alpha val="10000"/>
            </a:srgbClr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矩形 8">
            <a:extLst>
              <a:ext uri="{FF2B5EF4-FFF2-40B4-BE49-F238E27FC236}">
                <a16:creationId xmlns:a16="http://schemas.microsoft.com/office/drawing/2014/main" id="{7E857D94-D5F4-61C2-58C3-67B63CBD57CD}"/>
              </a:ext>
            </a:extLst>
          </p:cNvPr>
          <p:cNvSpPr/>
          <p:nvPr/>
        </p:nvSpPr>
        <p:spPr>
          <a:xfrm>
            <a:off x="8257593" y="6234142"/>
            <a:ext cx="3601616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chemeClr val="tx2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See live script for similar examples</a:t>
            </a:r>
            <a:endParaRPr lang="zh-CN" altLang="en-US" dirty="0">
              <a:solidFill>
                <a:schemeClr val="tx2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2815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Example plot - 4</a:t>
            </a:r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F4EFE52-2C3E-A541-089C-3D18C3D4A0D0}"/>
              </a:ext>
            </a:extLst>
          </p:cNvPr>
          <p:cNvGrpSpPr/>
          <p:nvPr/>
        </p:nvGrpSpPr>
        <p:grpSpPr>
          <a:xfrm>
            <a:off x="444759" y="1618964"/>
            <a:ext cx="9613642" cy="405780"/>
            <a:chOff x="528735" y="1770606"/>
            <a:chExt cx="9613642" cy="405780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E62FD47F-D988-59F5-8BAA-B4480BC2E983}"/>
                </a:ext>
              </a:extLst>
            </p:cNvPr>
            <p:cNvSpPr/>
            <p:nvPr/>
          </p:nvSpPr>
          <p:spPr>
            <a:xfrm>
              <a:off x="528735" y="1770606"/>
              <a:ext cx="9613642" cy="405780"/>
            </a:xfrm>
            <a:prstGeom prst="roundRect">
              <a:avLst>
                <a:gd name="adj" fmla="val 9492"/>
              </a:avLst>
            </a:prstGeom>
            <a:solidFill>
              <a:srgbClr val="F2F2F2"/>
            </a:solidFill>
            <a:ln>
              <a:solidFill>
                <a:schemeClr val="tx2">
                  <a:lumMod val="95000"/>
                  <a:lumOff val="5000"/>
                </a:schemeClr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GB" sz="1600" b="0" i="0" dirty="0" err="1">
                  <a:solidFill>
                    <a:schemeClr val="tx2">
                      <a:lumMod val="95000"/>
                      <a:lumOff val="5000"/>
                    </a:schemeClr>
                  </a:solidFill>
                  <a:effectLst/>
                  <a:latin typeface="Consolas" panose="020B0609020204030204" pitchFamily="49" charset="0"/>
                </a:rPr>
                <a:t>ylabel</a:t>
              </a:r>
              <a:r>
                <a:rPr lang="en-GB" sz="1600" b="0" i="0" dirty="0">
                  <a:solidFill>
                    <a:schemeClr val="tx2">
                      <a:lumMod val="95000"/>
                      <a:lumOff val="5000"/>
                    </a:schemeClr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GB" sz="1600" b="0" i="0" dirty="0">
                  <a:solidFill>
                    <a:srgbClr val="A76CFB"/>
                  </a:solidFill>
                  <a:effectLst/>
                  <a:latin typeface="Consolas" panose="020B0609020204030204" pitchFamily="49" charset="0"/>
                </a:rPr>
                <a:t>"Acceleration (m/s^2)"</a:t>
              </a:r>
              <a:r>
                <a:rPr lang="en-GB" sz="1600" b="0" i="0" dirty="0">
                  <a:solidFill>
                    <a:schemeClr val="tx2">
                      <a:lumMod val="95000"/>
                      <a:lumOff val="5000"/>
                    </a:schemeClr>
                  </a:solidFill>
                  <a:effectLst/>
                  <a:latin typeface="Consolas" panose="020B0609020204030204" pitchFamily="49" charset="0"/>
                </a:rPr>
                <a:t>)</a:t>
              </a:r>
            </a:p>
          </p:txBody>
        </p:sp>
        <p:sp>
          <p:nvSpPr>
            <p:cNvPr id="4" name="Rectangle 6">
              <a:extLst>
                <a:ext uri="{FF2B5EF4-FFF2-40B4-BE49-F238E27FC236}">
                  <a16:creationId xmlns:a16="http://schemas.microsoft.com/office/drawing/2014/main" id="{7A467576-C4DA-79F2-6B40-7699BC83EBB5}"/>
                </a:ext>
              </a:extLst>
            </p:cNvPr>
            <p:cNvSpPr/>
            <p:nvPr/>
          </p:nvSpPr>
          <p:spPr>
            <a:xfrm>
              <a:off x="528735" y="1830817"/>
              <a:ext cx="3530082" cy="285357"/>
            </a:xfrm>
            <a:prstGeom prst="roundRect">
              <a:avLst/>
            </a:prstGeom>
            <a:solidFill>
              <a:srgbClr val="FF0000">
                <a:alpha val="10000"/>
              </a:srgbClr>
            </a:solidFill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 descr="Chart, box and whisker chart&#10;&#10;Description automatically generated">
            <a:extLst>
              <a:ext uri="{FF2B5EF4-FFF2-40B4-BE49-F238E27FC236}">
                <a16:creationId xmlns:a16="http://schemas.microsoft.com/office/drawing/2014/main" id="{1B418487-9C22-CD19-6C86-A5155CDF26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333" y="2152800"/>
            <a:ext cx="5333333" cy="4000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456F851-E30D-4D6A-CFEA-38D23927201C}"/>
              </a:ext>
            </a:extLst>
          </p:cNvPr>
          <p:cNvSpPr/>
          <p:nvPr/>
        </p:nvSpPr>
        <p:spPr>
          <a:xfrm>
            <a:off x="2003508" y="3429000"/>
            <a:ext cx="368215" cy="1393079"/>
          </a:xfrm>
          <a:prstGeom prst="rect">
            <a:avLst/>
          </a:prstGeom>
          <a:solidFill>
            <a:srgbClr val="FF0000">
              <a:alpha val="10000"/>
            </a:srgbClr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矩形 8">
            <a:extLst>
              <a:ext uri="{FF2B5EF4-FFF2-40B4-BE49-F238E27FC236}">
                <a16:creationId xmlns:a16="http://schemas.microsoft.com/office/drawing/2014/main" id="{3E5F61BC-AE7C-F3FA-31E9-46CD43B38D66}"/>
              </a:ext>
            </a:extLst>
          </p:cNvPr>
          <p:cNvSpPr/>
          <p:nvPr/>
        </p:nvSpPr>
        <p:spPr>
          <a:xfrm>
            <a:off x="8257593" y="6234142"/>
            <a:ext cx="3601616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chemeClr val="tx2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See live script for similar examples</a:t>
            </a:r>
            <a:endParaRPr lang="zh-CN" altLang="en-US" dirty="0">
              <a:solidFill>
                <a:schemeClr val="tx2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64699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Example plot - 5</a:t>
            </a:r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DA0F2AB-EE72-EDF9-88F5-E47970FDA0BA}"/>
              </a:ext>
            </a:extLst>
          </p:cNvPr>
          <p:cNvGrpSpPr/>
          <p:nvPr/>
        </p:nvGrpSpPr>
        <p:grpSpPr>
          <a:xfrm>
            <a:off x="444759" y="1618964"/>
            <a:ext cx="9613642" cy="405780"/>
            <a:chOff x="528735" y="1770606"/>
            <a:chExt cx="9613642" cy="405780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F7FFC03A-C57B-9C14-7F55-3CF9B6999139}"/>
                </a:ext>
              </a:extLst>
            </p:cNvPr>
            <p:cNvSpPr/>
            <p:nvPr/>
          </p:nvSpPr>
          <p:spPr>
            <a:xfrm>
              <a:off x="528735" y="1770606"/>
              <a:ext cx="9613642" cy="405780"/>
            </a:xfrm>
            <a:prstGeom prst="roundRect">
              <a:avLst>
                <a:gd name="adj" fmla="val 9492"/>
              </a:avLst>
            </a:prstGeom>
            <a:solidFill>
              <a:srgbClr val="F2F2F2"/>
            </a:solidFill>
            <a:ln>
              <a:solidFill>
                <a:schemeClr val="tx2">
                  <a:lumMod val="95000"/>
                  <a:lumOff val="5000"/>
                </a:schemeClr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GB" sz="1600" b="0" i="0" dirty="0">
                  <a:solidFill>
                    <a:schemeClr val="tx2">
                      <a:lumMod val="95000"/>
                      <a:lumOff val="5000"/>
                    </a:schemeClr>
                  </a:solidFill>
                  <a:effectLst/>
                  <a:latin typeface="Consolas" panose="020B0609020204030204" pitchFamily="49" charset="0"/>
                </a:rPr>
                <a:t>grid()</a:t>
              </a:r>
            </a:p>
          </p:txBody>
        </p:sp>
        <p:sp>
          <p:nvSpPr>
            <p:cNvPr id="4" name="Rectangle 6">
              <a:extLst>
                <a:ext uri="{FF2B5EF4-FFF2-40B4-BE49-F238E27FC236}">
                  <a16:creationId xmlns:a16="http://schemas.microsoft.com/office/drawing/2014/main" id="{2AE3DC5F-E69B-C427-435D-3CD83B8B3DF6}"/>
                </a:ext>
              </a:extLst>
            </p:cNvPr>
            <p:cNvSpPr/>
            <p:nvPr/>
          </p:nvSpPr>
          <p:spPr>
            <a:xfrm>
              <a:off x="528735" y="1830817"/>
              <a:ext cx="805543" cy="285357"/>
            </a:xfrm>
            <a:prstGeom prst="roundRect">
              <a:avLst/>
            </a:prstGeom>
            <a:solidFill>
              <a:srgbClr val="FF0000">
                <a:alpha val="10000"/>
              </a:srgbClr>
            </a:solidFill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 descr="Chart, line chart&#10;&#10;Description automatically generated">
            <a:extLst>
              <a:ext uri="{FF2B5EF4-FFF2-40B4-BE49-F238E27FC236}">
                <a16:creationId xmlns:a16="http://schemas.microsoft.com/office/drawing/2014/main" id="{5D26D7FB-83D0-A231-C5FD-DB96F5AF5B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333" y="2152800"/>
            <a:ext cx="5333333" cy="4000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D7F493B-DDEA-02B5-612D-67AB7E69F6E9}"/>
              </a:ext>
            </a:extLst>
          </p:cNvPr>
          <p:cNvSpPr/>
          <p:nvPr/>
        </p:nvSpPr>
        <p:spPr>
          <a:xfrm>
            <a:off x="3234505" y="4328384"/>
            <a:ext cx="1534228" cy="875718"/>
          </a:xfrm>
          <a:prstGeom prst="rect">
            <a:avLst/>
          </a:prstGeom>
          <a:solidFill>
            <a:srgbClr val="FF0000">
              <a:alpha val="10000"/>
            </a:srgbClr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矩形 8">
            <a:extLst>
              <a:ext uri="{FF2B5EF4-FFF2-40B4-BE49-F238E27FC236}">
                <a16:creationId xmlns:a16="http://schemas.microsoft.com/office/drawing/2014/main" id="{5A393F8C-4D9E-0422-46D8-BA8DADEDEAE2}"/>
              </a:ext>
            </a:extLst>
          </p:cNvPr>
          <p:cNvSpPr/>
          <p:nvPr/>
        </p:nvSpPr>
        <p:spPr>
          <a:xfrm>
            <a:off x="8257593" y="6234142"/>
            <a:ext cx="3601616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chemeClr val="tx2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See live script for similar examples</a:t>
            </a:r>
            <a:endParaRPr lang="zh-CN" altLang="en-US" dirty="0">
              <a:solidFill>
                <a:schemeClr val="tx2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72225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Example plot - 6</a:t>
            </a:r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45DFF75-E218-FC4C-DABC-159190240D96}"/>
              </a:ext>
            </a:extLst>
          </p:cNvPr>
          <p:cNvGrpSpPr/>
          <p:nvPr/>
        </p:nvGrpSpPr>
        <p:grpSpPr>
          <a:xfrm>
            <a:off x="444759" y="1618963"/>
            <a:ext cx="9613642" cy="592391"/>
            <a:chOff x="528735" y="1770605"/>
            <a:chExt cx="9613642" cy="59239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55FF6A05-77E0-4869-DF18-12FE14C8680F}"/>
                </a:ext>
              </a:extLst>
            </p:cNvPr>
            <p:cNvSpPr/>
            <p:nvPr/>
          </p:nvSpPr>
          <p:spPr>
            <a:xfrm>
              <a:off x="528735" y="1770605"/>
              <a:ext cx="9613642" cy="592391"/>
            </a:xfrm>
            <a:prstGeom prst="roundRect">
              <a:avLst>
                <a:gd name="adj" fmla="val 9492"/>
              </a:avLst>
            </a:prstGeom>
            <a:solidFill>
              <a:srgbClr val="F2F2F2"/>
            </a:solidFill>
            <a:ln>
              <a:solidFill>
                <a:schemeClr val="tx2">
                  <a:lumMod val="95000"/>
                  <a:lumOff val="5000"/>
                </a:schemeClr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GB" sz="1600" b="0" i="0" dirty="0">
                  <a:solidFill>
                    <a:schemeClr val="tx2">
                      <a:lumMod val="95000"/>
                      <a:lumOff val="5000"/>
                    </a:schemeClr>
                  </a:solidFill>
                  <a:effectLst/>
                  <a:latin typeface="Consolas" panose="020B0609020204030204" pitchFamily="49" charset="0"/>
                </a:rPr>
                <a:t>hold </a:t>
              </a:r>
              <a:r>
                <a:rPr lang="en-GB" sz="1600" b="0" i="0" u="none" strike="noStrike" dirty="0">
                  <a:solidFill>
                    <a:srgbClr val="A709F5"/>
                  </a:solidFill>
                  <a:effectLst/>
                  <a:latin typeface="Consolas" panose="020B0609020204030204" pitchFamily="49" charset="0"/>
                </a:rPr>
                <a:t>on 		</a:t>
              </a:r>
              <a:r>
                <a:rPr lang="en-GB" sz="1600" dirty="0">
                  <a:solidFill>
                    <a:srgbClr val="008013"/>
                  </a:solidFill>
                  <a:latin typeface="Consolas" panose="020B0609020204030204" pitchFamily="49" charset="0"/>
                </a:rPr>
                <a:t>% tell MATLAB to put next plots onto same figure</a:t>
              </a:r>
            </a:p>
            <a:p>
              <a:pPr marL="0" indent="0">
                <a:buNone/>
              </a:pPr>
              <a:r>
                <a:rPr lang="en-GB" sz="1600" b="0" i="0" dirty="0">
                  <a:solidFill>
                    <a:schemeClr val="tx2">
                      <a:lumMod val="95000"/>
                      <a:lumOff val="5000"/>
                    </a:schemeClr>
                  </a:solidFill>
                  <a:effectLst/>
                  <a:latin typeface="Consolas" panose="020B0609020204030204" pitchFamily="49" charset="0"/>
                </a:rPr>
                <a:t>scatter(time, acceleration)</a:t>
              </a:r>
            </a:p>
          </p:txBody>
        </p:sp>
        <p:sp>
          <p:nvSpPr>
            <p:cNvPr id="4" name="Rectangle 6">
              <a:extLst>
                <a:ext uri="{FF2B5EF4-FFF2-40B4-BE49-F238E27FC236}">
                  <a16:creationId xmlns:a16="http://schemas.microsoft.com/office/drawing/2014/main" id="{4AA3038B-B6E1-DA95-BF76-AC9A3744CCFD}"/>
                </a:ext>
              </a:extLst>
            </p:cNvPr>
            <p:cNvSpPr/>
            <p:nvPr/>
          </p:nvSpPr>
          <p:spPr>
            <a:xfrm>
              <a:off x="528735" y="2066800"/>
              <a:ext cx="3175519" cy="285357"/>
            </a:xfrm>
            <a:prstGeom prst="roundRect">
              <a:avLst/>
            </a:prstGeom>
            <a:solidFill>
              <a:srgbClr val="FF0000">
                <a:alpha val="10000"/>
              </a:srgbClr>
            </a:solidFill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 descr="Chart, line chart&#10;&#10;Description automatically generated">
            <a:extLst>
              <a:ext uri="{FF2B5EF4-FFF2-40B4-BE49-F238E27FC236}">
                <a16:creationId xmlns:a16="http://schemas.microsoft.com/office/drawing/2014/main" id="{277635A0-8989-9EC1-C387-0643506063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333" y="2418808"/>
            <a:ext cx="5333333" cy="4000000"/>
          </a:xfrm>
          <a:prstGeom prst="rect">
            <a:avLst/>
          </a:prstGeom>
        </p:spPr>
      </p:pic>
      <p:sp>
        <p:nvSpPr>
          <p:cNvPr id="6" name="矩形 8">
            <a:extLst>
              <a:ext uri="{FF2B5EF4-FFF2-40B4-BE49-F238E27FC236}">
                <a16:creationId xmlns:a16="http://schemas.microsoft.com/office/drawing/2014/main" id="{726E05CC-C7A2-EEE5-D12F-ABF10CFE9B76}"/>
              </a:ext>
            </a:extLst>
          </p:cNvPr>
          <p:cNvSpPr/>
          <p:nvPr/>
        </p:nvSpPr>
        <p:spPr>
          <a:xfrm>
            <a:off x="8257593" y="6234142"/>
            <a:ext cx="3601616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chemeClr val="tx2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See live script for similar examples</a:t>
            </a:r>
            <a:endParaRPr lang="zh-CN" altLang="en-US" dirty="0">
              <a:solidFill>
                <a:schemeClr val="tx2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56710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Example plot - 7</a:t>
            </a:r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08C830D-3524-98C9-EADB-BD2BE7AD731A}"/>
              </a:ext>
            </a:extLst>
          </p:cNvPr>
          <p:cNvGrpSpPr/>
          <p:nvPr/>
        </p:nvGrpSpPr>
        <p:grpSpPr>
          <a:xfrm>
            <a:off x="444759" y="1618963"/>
            <a:ext cx="9613642" cy="396449"/>
            <a:chOff x="528735" y="1770605"/>
            <a:chExt cx="9613642" cy="396449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93999DF3-1A7E-B875-9B08-AA0897C9A893}"/>
                </a:ext>
              </a:extLst>
            </p:cNvPr>
            <p:cNvSpPr/>
            <p:nvPr/>
          </p:nvSpPr>
          <p:spPr>
            <a:xfrm>
              <a:off x="528735" y="1770605"/>
              <a:ext cx="9613642" cy="396449"/>
            </a:xfrm>
            <a:prstGeom prst="roundRect">
              <a:avLst>
                <a:gd name="adj" fmla="val 9492"/>
              </a:avLst>
            </a:prstGeom>
            <a:solidFill>
              <a:srgbClr val="F2F2F2"/>
            </a:solidFill>
            <a:ln>
              <a:solidFill>
                <a:schemeClr val="tx2">
                  <a:lumMod val="95000"/>
                  <a:lumOff val="5000"/>
                </a:schemeClr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GB" sz="1600" b="0" i="0" dirty="0">
                  <a:solidFill>
                    <a:schemeClr val="tx2">
                      <a:lumMod val="95000"/>
                      <a:lumOff val="5000"/>
                    </a:schemeClr>
                  </a:solidFill>
                  <a:effectLst/>
                  <a:latin typeface="Consolas" panose="020B0609020204030204" pitchFamily="49" charset="0"/>
                </a:rPr>
                <a:t>legend([</a:t>
              </a:r>
              <a:r>
                <a:rPr lang="en-GB" sz="1600" b="0" i="0" u="none" strike="noStrike" dirty="0">
                  <a:solidFill>
                    <a:srgbClr val="A709F5"/>
                  </a:solidFill>
                  <a:effectLst/>
                  <a:latin typeface="Consolas" panose="020B0609020204030204" pitchFamily="49" charset="0"/>
                </a:rPr>
                <a:t>"line"</a:t>
              </a:r>
              <a:r>
                <a:rPr lang="en-GB" sz="1600" b="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,</a:t>
              </a:r>
              <a:r>
                <a:rPr lang="en-GB" sz="1600" b="0" i="0" dirty="0">
                  <a:solidFill>
                    <a:srgbClr val="A76CFB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GB" sz="1600" b="0" i="0" u="none" strike="noStrike" dirty="0">
                  <a:solidFill>
                    <a:srgbClr val="A709F5"/>
                  </a:solidFill>
                  <a:effectLst/>
                  <a:latin typeface="Consolas" panose="020B0609020204030204" pitchFamily="49" charset="0"/>
                </a:rPr>
                <a:t>"data points"</a:t>
              </a:r>
              <a:r>
                <a:rPr lang="en-GB" sz="1600" b="0" i="0" dirty="0">
                  <a:solidFill>
                    <a:schemeClr val="tx2">
                      <a:lumMod val="95000"/>
                      <a:lumOff val="5000"/>
                    </a:schemeClr>
                  </a:solidFill>
                  <a:effectLst/>
                  <a:latin typeface="Consolas" panose="020B0609020204030204" pitchFamily="49" charset="0"/>
                </a:rPr>
                <a:t>])</a:t>
              </a:r>
            </a:p>
          </p:txBody>
        </p:sp>
        <p:sp>
          <p:nvSpPr>
            <p:cNvPr id="4" name="Rectangle 6">
              <a:extLst>
                <a:ext uri="{FF2B5EF4-FFF2-40B4-BE49-F238E27FC236}">
                  <a16:creationId xmlns:a16="http://schemas.microsoft.com/office/drawing/2014/main" id="{9D73B511-18B4-402C-F891-FCEA9E73B6EE}"/>
                </a:ext>
              </a:extLst>
            </p:cNvPr>
            <p:cNvSpPr/>
            <p:nvPr/>
          </p:nvSpPr>
          <p:spPr>
            <a:xfrm>
              <a:off x="528735" y="1826150"/>
              <a:ext cx="3623388" cy="285357"/>
            </a:xfrm>
            <a:prstGeom prst="roundRect">
              <a:avLst/>
            </a:prstGeom>
            <a:solidFill>
              <a:srgbClr val="FF0000">
                <a:alpha val="10000"/>
              </a:srgbClr>
            </a:solidFill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 descr="Chart, scatter chart&#10;&#10;Description automatically generated">
            <a:extLst>
              <a:ext uri="{FF2B5EF4-FFF2-40B4-BE49-F238E27FC236}">
                <a16:creationId xmlns:a16="http://schemas.microsoft.com/office/drawing/2014/main" id="{85DC7E7C-C5CE-A4CA-BE66-68D0E7BCCF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333" y="2324386"/>
            <a:ext cx="5333333" cy="4000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B68E79D-8563-D541-1BA5-04C3173F5F58}"/>
              </a:ext>
            </a:extLst>
          </p:cNvPr>
          <p:cNvSpPr/>
          <p:nvPr/>
        </p:nvSpPr>
        <p:spPr>
          <a:xfrm flipH="1">
            <a:off x="5547768" y="2681584"/>
            <a:ext cx="1135328" cy="429584"/>
          </a:xfrm>
          <a:prstGeom prst="rect">
            <a:avLst/>
          </a:prstGeom>
          <a:solidFill>
            <a:srgbClr val="FF0000">
              <a:alpha val="10000"/>
            </a:srgbClr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矩形 8">
            <a:extLst>
              <a:ext uri="{FF2B5EF4-FFF2-40B4-BE49-F238E27FC236}">
                <a16:creationId xmlns:a16="http://schemas.microsoft.com/office/drawing/2014/main" id="{7A534F6F-A8D8-9192-52E6-9916E3007A70}"/>
              </a:ext>
            </a:extLst>
          </p:cNvPr>
          <p:cNvSpPr/>
          <p:nvPr/>
        </p:nvSpPr>
        <p:spPr>
          <a:xfrm>
            <a:off x="8257593" y="6234142"/>
            <a:ext cx="3601616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chemeClr val="tx2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See live script for similar examples</a:t>
            </a:r>
            <a:endParaRPr lang="zh-CN" altLang="en-US" dirty="0">
              <a:solidFill>
                <a:schemeClr val="tx2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17106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University at sunset">
            <a:extLst>
              <a:ext uri="{FF2B5EF4-FFF2-40B4-BE49-F238E27FC236}">
                <a16:creationId xmlns:a16="http://schemas.microsoft.com/office/drawing/2014/main" id="{11FDCD37-95D4-D94F-8143-5384ADC6A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75F20C-468E-F742-9149-B8A5FEBC291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5886" y="1889351"/>
            <a:ext cx="5842000" cy="1931535"/>
          </a:xfrm>
        </p:spPr>
        <p:txBody>
          <a:bodyPr>
            <a:noAutofit/>
          </a:bodyPr>
          <a:lstStyle/>
          <a:p>
            <a:pPr algn="l"/>
            <a:r>
              <a:rPr lang="en-GB">
                <a:solidFill>
                  <a:schemeClr val="bg1"/>
                </a:solidFill>
              </a:rPr>
              <a:t>Thanks!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2ED6EA-1EF6-E99C-8D46-A77E8079F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5228" y="5699322"/>
            <a:ext cx="3413095" cy="854153"/>
            <a:chOff x="8385228" y="5699322"/>
            <a:chExt cx="3413095" cy="85415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4E80E0-21D5-A09C-9C43-3B822C05837D}"/>
                </a:ext>
              </a:extLst>
            </p:cNvPr>
            <p:cNvSpPr txBox="1"/>
            <p:nvPr/>
          </p:nvSpPr>
          <p:spPr>
            <a:xfrm>
              <a:off x="8385228" y="5699322"/>
              <a:ext cx="3413095" cy="461665"/>
            </a:xfrm>
            <a:prstGeom prst="rect">
              <a:avLst/>
            </a:prstGeom>
            <a:noFill/>
            <a:effectLst>
              <a:outerShdw blurRad="1270000" dist="50800" dir="5400000" sx="200000" sy="200000" algn="ctr" rotWithShape="0">
                <a:schemeClr val="tx1"/>
              </a:outerShdw>
            </a:effectLst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UofGWorldChangers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2BBCD2-E264-1B57-0E93-92E9DB639953}"/>
                </a:ext>
              </a:extLst>
            </p:cNvPr>
            <p:cNvSpPr txBox="1"/>
            <p:nvPr/>
          </p:nvSpPr>
          <p:spPr>
            <a:xfrm>
              <a:off x="9098531" y="6091810"/>
              <a:ext cx="2699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@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UofGlasgow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4EA5A01-D67E-B5A8-4983-B4E38F735C71}"/>
                </a:ext>
              </a:extLst>
            </p:cNvPr>
            <p:cNvGrpSpPr/>
            <p:nvPr/>
          </p:nvGrpSpPr>
          <p:grpSpPr>
            <a:xfrm>
              <a:off x="8516481" y="6162367"/>
              <a:ext cx="841333" cy="347112"/>
              <a:chOff x="8601252" y="6162367"/>
              <a:chExt cx="841333" cy="347112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8049EAA7-B259-E0CF-6188-D83E4A7650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78761" y="6162367"/>
                <a:ext cx="475023" cy="347112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C9EF044C-8E77-0253-404C-AEACFCC1AE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194185" y="6223334"/>
                <a:ext cx="248400" cy="248399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1EFBA2B9-08B7-B52F-FE3B-91DCAC58DC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601252" y="6221141"/>
                <a:ext cx="239105" cy="23910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063787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Plot customization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1D0FE5-E721-4C91-6E43-4B6C93313236}"/>
              </a:ext>
            </a:extLst>
          </p:cNvPr>
          <p:cNvSpPr txBox="1">
            <a:spLocks/>
          </p:cNvSpPr>
          <p:nvPr/>
        </p:nvSpPr>
        <p:spPr>
          <a:xfrm>
            <a:off x="437373" y="1671459"/>
            <a:ext cx="10260174" cy="310453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MATLAB supports many ways of customizing plots.</a:t>
            </a:r>
          </a:p>
          <a:p>
            <a:r>
              <a:rPr lang="en-GB" dirty="0"/>
              <a:t>The easiest way is to add other arguments to the “plot” function call.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B152285-9C13-CA7C-F7A7-BA1E692CFC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20028098"/>
              </p:ext>
            </p:extLst>
          </p:nvPr>
        </p:nvGraphicFramePr>
        <p:xfrm>
          <a:off x="745281" y="2751940"/>
          <a:ext cx="9952266" cy="33671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7422">
                  <a:extLst>
                    <a:ext uri="{9D8B030D-6E8A-4147-A177-3AD203B41FA5}">
                      <a16:colId xmlns:a16="http://schemas.microsoft.com/office/drawing/2014/main" val="1120946659"/>
                    </a:ext>
                  </a:extLst>
                </a:gridCol>
                <a:gridCol w="3317422">
                  <a:extLst>
                    <a:ext uri="{9D8B030D-6E8A-4147-A177-3AD203B41FA5}">
                      <a16:colId xmlns:a16="http://schemas.microsoft.com/office/drawing/2014/main" val="1783415027"/>
                    </a:ext>
                  </a:extLst>
                </a:gridCol>
                <a:gridCol w="3317422">
                  <a:extLst>
                    <a:ext uri="{9D8B030D-6E8A-4147-A177-3AD203B41FA5}">
                      <a16:colId xmlns:a16="http://schemas.microsoft.com/office/drawing/2014/main" val="25079096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err="1"/>
                        <a:t>Color</a:t>
                      </a:r>
                      <a:endParaRPr lang="en-GB" sz="1600" dirty="0"/>
                    </a:p>
                  </a:txBody>
                  <a:tcPr>
                    <a:solidFill>
                      <a:srgbClr val="0035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Marker</a:t>
                      </a:r>
                    </a:p>
                  </a:txBody>
                  <a:tcPr>
                    <a:solidFill>
                      <a:srgbClr val="0035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/>
                        <a:t>Line style</a:t>
                      </a:r>
                      <a:endParaRPr lang="en-GB" sz="1600" dirty="0"/>
                    </a:p>
                  </a:txBody>
                  <a:tcPr>
                    <a:solidFill>
                      <a:srgbClr val="0035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9429303"/>
                  </a:ext>
                </a:extLst>
              </a:tr>
              <a:tr h="400453">
                <a:tc>
                  <a:txBody>
                    <a:bodyPr/>
                    <a:lstStyle/>
                    <a:p>
                      <a:pPr lvl="0" algn="ctr"/>
                      <a:r>
                        <a:rPr lang="en-GB" sz="1600" i="0" dirty="0"/>
                        <a:t>‘y’</a:t>
                      </a:r>
                      <a:r>
                        <a:rPr lang="en-GB" sz="1600" i="0" dirty="0">
                          <a:sym typeface="Wingdings" panose="05000000000000000000" pitchFamily="2" charset="2"/>
                        </a:rPr>
                        <a:t> </a:t>
                      </a:r>
                      <a:r>
                        <a:rPr lang="en-GB" sz="1600" i="0" dirty="0"/>
                        <a:t> yellow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i="0" dirty="0"/>
                        <a:t>‘.’  </a:t>
                      </a:r>
                      <a:r>
                        <a:rPr lang="en-GB" sz="1600" i="0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GB" sz="1600" i="0" dirty="0"/>
                        <a:t> 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i="0" dirty="0"/>
                        <a:t>‘-’ </a:t>
                      </a:r>
                      <a:r>
                        <a:rPr lang="en-GB" sz="1600" i="0" dirty="0">
                          <a:sym typeface="Wingdings" panose="05000000000000000000" pitchFamily="2" charset="2"/>
                        </a:rPr>
                        <a:t> solid</a:t>
                      </a:r>
                      <a:endParaRPr lang="en-GB" sz="1600" i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58205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/>
                      <a:r>
                        <a:rPr lang="en-GB" sz="1600" i="0" dirty="0"/>
                        <a:t>‘m’</a:t>
                      </a:r>
                      <a:r>
                        <a:rPr lang="en-GB" sz="1600" i="0" dirty="0">
                          <a:sym typeface="Wingdings" panose="05000000000000000000" pitchFamily="2" charset="2"/>
                        </a:rPr>
                        <a:t> </a:t>
                      </a:r>
                      <a:r>
                        <a:rPr lang="en-GB" sz="1600" i="0" dirty="0"/>
                        <a:t> magenta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i="0" dirty="0"/>
                        <a:t>‘o’  </a:t>
                      </a:r>
                      <a:r>
                        <a:rPr lang="en-GB" sz="1600" i="0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GB" sz="1600" i="0" dirty="0"/>
                        <a:t> circle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i="0" dirty="0"/>
                        <a:t>‘:’ </a:t>
                      </a:r>
                      <a:r>
                        <a:rPr lang="en-GB" sz="1600" i="0" dirty="0">
                          <a:sym typeface="Wingdings" panose="05000000000000000000" pitchFamily="2" charset="2"/>
                        </a:rPr>
                        <a:t> dotted</a:t>
                      </a:r>
                      <a:endParaRPr lang="en-GB" sz="1600" i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9057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/>
                      <a:r>
                        <a:rPr lang="en-GB" sz="1600" i="0" dirty="0"/>
                        <a:t>‘c’</a:t>
                      </a:r>
                      <a:r>
                        <a:rPr lang="en-GB" sz="1600" i="0" dirty="0">
                          <a:sym typeface="Wingdings" panose="05000000000000000000" pitchFamily="2" charset="2"/>
                        </a:rPr>
                        <a:t> </a:t>
                      </a:r>
                      <a:r>
                        <a:rPr lang="en-GB" sz="1600" i="0" dirty="0"/>
                        <a:t> cyan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i="0" dirty="0"/>
                        <a:t>‘x’  </a:t>
                      </a:r>
                      <a:r>
                        <a:rPr lang="en-GB" sz="1600" i="0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GB" sz="1600" i="0" dirty="0"/>
                        <a:t> x-mark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i="0" dirty="0"/>
                        <a:t>‘-.’ </a:t>
                      </a:r>
                      <a:r>
                        <a:rPr lang="en-GB" sz="1600" i="0" dirty="0"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GB" sz="1600" i="0" dirty="0" err="1">
                          <a:sym typeface="Wingdings" panose="05000000000000000000" pitchFamily="2" charset="2"/>
                        </a:rPr>
                        <a:t>dashdot</a:t>
                      </a:r>
                      <a:endParaRPr lang="en-GB" sz="1600" i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99923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/>
                      <a:r>
                        <a:rPr lang="en-GB" sz="1600" i="0" dirty="0"/>
                        <a:t>‘r’</a:t>
                      </a:r>
                      <a:r>
                        <a:rPr lang="en-GB" sz="1600" i="0" dirty="0">
                          <a:sym typeface="Wingdings" panose="05000000000000000000" pitchFamily="2" charset="2"/>
                        </a:rPr>
                        <a:t> </a:t>
                      </a:r>
                      <a:r>
                        <a:rPr lang="en-GB" sz="1600" i="0" dirty="0"/>
                        <a:t> 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i="0" dirty="0"/>
                        <a:t>‘+’  </a:t>
                      </a:r>
                      <a:r>
                        <a:rPr lang="en-GB" sz="1600" i="0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GB" sz="1600" i="0" dirty="0"/>
                        <a:t> plus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i="0" dirty="0"/>
                        <a:t>‘--’ </a:t>
                      </a:r>
                      <a:r>
                        <a:rPr lang="en-GB" sz="1600" i="0" dirty="0">
                          <a:sym typeface="Wingdings" panose="05000000000000000000" pitchFamily="2" charset="2"/>
                        </a:rPr>
                        <a:t> dashed</a:t>
                      </a:r>
                      <a:endParaRPr lang="en-GB" sz="1600" i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8616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/>
                      <a:r>
                        <a:rPr lang="en-GB" sz="1600" i="0" dirty="0"/>
                        <a:t>‘g’</a:t>
                      </a:r>
                      <a:r>
                        <a:rPr lang="en-GB" sz="1600" i="0" dirty="0">
                          <a:sym typeface="Wingdings" panose="05000000000000000000" pitchFamily="2" charset="2"/>
                        </a:rPr>
                        <a:t> </a:t>
                      </a:r>
                      <a:r>
                        <a:rPr lang="en-GB" sz="1600" i="0" dirty="0"/>
                        <a:t> green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i="0" dirty="0"/>
                        <a:t>‘*’  </a:t>
                      </a:r>
                      <a:r>
                        <a:rPr lang="en-GB" sz="1600" i="0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GB" sz="1600" i="0" dirty="0"/>
                        <a:t> star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600" i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88304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/>
                      <a:r>
                        <a:rPr lang="en-GB" sz="1600" i="0" dirty="0"/>
                        <a:t>‘b’</a:t>
                      </a:r>
                      <a:r>
                        <a:rPr lang="en-GB" sz="1600" i="0" dirty="0">
                          <a:sym typeface="Wingdings" panose="05000000000000000000" pitchFamily="2" charset="2"/>
                        </a:rPr>
                        <a:t> </a:t>
                      </a:r>
                      <a:r>
                        <a:rPr lang="en-GB" sz="1600" i="0" dirty="0"/>
                        <a:t> blue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i="0" dirty="0"/>
                        <a:t>‘s’  </a:t>
                      </a:r>
                      <a:r>
                        <a:rPr lang="en-GB" sz="1600" i="0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GB" sz="1600" i="0" dirty="0"/>
                        <a:t> square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600" i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95043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/>
                      <a:r>
                        <a:rPr lang="en-GB" sz="1600" i="0" dirty="0"/>
                        <a:t>‘w’</a:t>
                      </a:r>
                      <a:r>
                        <a:rPr lang="en-GB" sz="1600" i="0" dirty="0">
                          <a:sym typeface="Wingdings" panose="05000000000000000000" pitchFamily="2" charset="2"/>
                        </a:rPr>
                        <a:t> </a:t>
                      </a:r>
                      <a:r>
                        <a:rPr lang="en-GB" sz="1600" i="0" dirty="0"/>
                        <a:t> white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i="0" dirty="0"/>
                        <a:t>‘d’  </a:t>
                      </a:r>
                      <a:r>
                        <a:rPr lang="en-GB" sz="1600" i="0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GB" sz="1600" i="0" dirty="0"/>
                        <a:t> diamond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600" i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57088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/>
                      <a:r>
                        <a:rPr lang="en-GB" sz="1600" i="0" dirty="0"/>
                        <a:t>‘k’</a:t>
                      </a:r>
                      <a:r>
                        <a:rPr lang="en-GB" sz="1600" i="0" dirty="0">
                          <a:sym typeface="Wingdings" panose="05000000000000000000" pitchFamily="2" charset="2"/>
                        </a:rPr>
                        <a:t> </a:t>
                      </a:r>
                      <a:r>
                        <a:rPr lang="en-GB" sz="1600" i="0" dirty="0"/>
                        <a:t> black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i="0" dirty="0"/>
                        <a:t>‘v’  </a:t>
                      </a:r>
                      <a:r>
                        <a:rPr lang="en-GB" sz="1600" i="0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GB" sz="1600" i="0" dirty="0"/>
                        <a:t> triangle (down)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600" i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6111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99980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1AF5F2-503D-2641-86A1-09AD8919EA9C}" vid="{A816E7D6-9491-074F-A4D5-6596497DAC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cc9bed8-8410-44eb-bf25-ca1ea4636418">
      <Terms xmlns="http://schemas.microsoft.com/office/infopath/2007/PartnerControls"/>
    </lcf76f155ced4ddcb4097134ff3c332f>
    <TaxCatchAll xmlns="dfc159fb-6789-415c-9027-b0bc58ba83c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3DDD16490E0A48848881CB6EECDF92" ma:contentTypeVersion="14" ma:contentTypeDescription="Create a new document." ma:contentTypeScope="" ma:versionID="7257862a4d6c3825659cc59ecdb78f01">
  <xsd:schema xmlns:xsd="http://www.w3.org/2001/XMLSchema" xmlns:xs="http://www.w3.org/2001/XMLSchema" xmlns:p="http://schemas.microsoft.com/office/2006/metadata/properties" xmlns:ns2="1cc9bed8-8410-44eb-bf25-ca1ea4636418" xmlns:ns3="dfc159fb-6789-415c-9027-b0bc58ba83c2" targetNamespace="http://schemas.microsoft.com/office/2006/metadata/properties" ma:root="true" ma:fieldsID="e75013956d80933023b8c9f213f858d3" ns2:_="" ns3:_="">
    <xsd:import namespace="1cc9bed8-8410-44eb-bf25-ca1ea4636418"/>
    <xsd:import namespace="dfc159fb-6789-415c-9027-b0bc58ba83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c9bed8-8410-44eb-bf25-ca1ea4636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7306b285-ac2c-4225-b56d-e54690cf9c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c159fb-6789-415c-9027-b0bc58ba83c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9eadc21-23c5-47b9-90bf-40474c6df852}" ma:internalName="TaxCatchAll" ma:showField="CatchAllData" ma:web="dfc159fb-6789-415c-9027-b0bc58ba83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9FF85DC-1D7D-4779-9DAE-6E444510480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3842127-E44A-4FA2-9904-BB9899B42303}">
  <ds:schemaRefs>
    <ds:schemaRef ds:uri="http://schemas.microsoft.com/office/2006/metadata/properties"/>
    <ds:schemaRef ds:uri="http://schemas.microsoft.com/office/infopath/2007/PartnerControls"/>
    <ds:schemaRef ds:uri="1cc9bed8-8410-44eb-bf25-ca1ea4636418"/>
    <ds:schemaRef ds:uri="dfc159fb-6789-415c-9027-b0bc58ba83c2"/>
  </ds:schemaRefs>
</ds:datastoreItem>
</file>

<file path=customXml/itemProps3.xml><?xml version="1.0" encoding="utf-8"?>
<ds:datastoreItem xmlns:ds="http://schemas.openxmlformats.org/officeDocument/2006/customXml" ds:itemID="{BAE90567-D011-4DD9-83B9-229EE7F478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cc9bed8-8410-44eb-bf25-ca1ea4636418"/>
    <ds:schemaRef ds:uri="dfc159fb-6789-415c-9027-b0bc58ba83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1833</TotalTime>
  <Words>325</Words>
  <Application>Microsoft Office PowerPoint</Application>
  <PresentationFormat>Widescreen</PresentationFormat>
  <Paragraphs>66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Consolas</vt:lpstr>
      <vt:lpstr>Times New Roman</vt:lpstr>
      <vt:lpstr>Wingdings</vt:lpstr>
      <vt:lpstr>Office Theme</vt:lpstr>
      <vt:lpstr>MATLAB Graphics: Basic Plots</vt:lpstr>
      <vt:lpstr>Example plot - 1</vt:lpstr>
      <vt:lpstr>Example plot - 2</vt:lpstr>
      <vt:lpstr>Example plot - 3</vt:lpstr>
      <vt:lpstr>Example plot - 4</vt:lpstr>
      <vt:lpstr>Example plot - 5</vt:lpstr>
      <vt:lpstr>Example plot - 6</vt:lpstr>
      <vt:lpstr>Example plot - 7</vt:lpstr>
      <vt:lpstr>Thanks!</vt:lpstr>
      <vt:lpstr>Plot customization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/>
  <cp:lastModifiedBy>Bo Liu</cp:lastModifiedBy>
  <cp:revision>63</cp:revision>
  <dcterms:created xsi:type="dcterms:W3CDTF">2021-01-06T14:22:07Z</dcterms:created>
  <dcterms:modified xsi:type="dcterms:W3CDTF">2024-06-21T15:54:00Z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0x0101009C3DDD16490E0A48848881CB6EECDF92</vt:lpwstr>
  </property>
  <property fmtid="{D5CDD505-2E9C-101B-9397-08002B2CF9AE}" pid="3" name="MediaServiceImageTags">
    <vt:lpwstr/>
  </property>
</Properties>
</file>