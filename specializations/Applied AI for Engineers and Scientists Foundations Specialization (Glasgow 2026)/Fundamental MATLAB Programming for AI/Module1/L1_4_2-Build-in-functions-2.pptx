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256" r:id="rId5"/>
    <p:sldId id="494" r:id="rId6"/>
    <p:sldId id="496" r:id="rId7"/>
    <p:sldId id="497" r:id="rId8"/>
    <p:sldId id="498" r:id="rId9"/>
    <p:sldId id="499" r:id="rId10"/>
    <p:sldId id="273" r:id="rId11"/>
    <p:sldId id="495" r:id="rId12"/>
    <p:sldId id="50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359" autoAdjust="0"/>
    <p:restoredTop sz="96327"/>
  </p:normalViewPr>
  <p:slideViewPr>
    <p:cSldViewPr snapToGrid="0">
      <p:cViewPr varScale="1">
        <p:scale>
          <a:sx n="153" d="100"/>
          <a:sy n="153" d="100"/>
        </p:scale>
        <p:origin x="92" y="160"/>
      </p:cViewPr>
      <p:guideLst/>
    </p:cSldViewPr>
  </p:slideViewPr>
  <p:outlineViewPr>
    <p:cViewPr>
      <p:scale>
        <a:sx n="30" d="100"/>
        <a:sy n="3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95AE2-43AC-144B-AE88-DCB376799F11}" type="datetimeFigureOut">
              <a:rPr lang="en-US" smtClean="0"/>
              <a:t>6/24/2024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4E5BB-E6B0-B84A-ABCD-9A3E9C2D7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427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5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02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190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409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2525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590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94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39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F24E5BB-E6B0-B84A-ABCD-9A3E9C2D78C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28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83BB4406-02B4-284F-84C5-A21F22E6B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5FEA054A-F191-E34B-8C26-BA11F3F0C0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85750" y="1627188"/>
            <a:ext cx="11474450" cy="46069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2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a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8667"/>
            <a:ext cx="5181600" cy="456829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EE31514-F8EA-5D4E-B45D-65DD78DBE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52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91D55F9-A3F2-1242-A5F3-5AAACC9D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408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6629400" cy="789709"/>
          </a:xfrm>
        </p:spPr>
        <p:txBody>
          <a:bodyPr anchor="t">
            <a:normAutofit/>
          </a:bodyPr>
          <a:lstStyle>
            <a:lvl1pPr algn="l">
              <a:defRPr sz="28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0418" y="3015529"/>
            <a:ext cx="5680364" cy="623598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4273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97420DD-2415-454D-AA0F-DBDA719CB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283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1680" y="2123676"/>
            <a:ext cx="4027169" cy="1600200"/>
          </a:xfrm>
        </p:spPr>
        <p:txBody>
          <a:bodyPr anchor="t">
            <a:normAutofit/>
          </a:bodyPr>
          <a:lstStyle>
            <a:lvl1pPr algn="l">
              <a:defRPr sz="28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680" y="3934224"/>
            <a:ext cx="4030345" cy="1934763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39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A65B24-645B-1746-9651-55C209C5E25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10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511800" y="681037"/>
            <a:ext cx="5842000" cy="10096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624FB1-CB24-4B4C-BFD4-AD276D9A4059}" type="datetimeFigureOut">
              <a:rPr lang="en-GB" smtClean="0"/>
              <a:t>24/06/2024</a:t>
            </a:fld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19F3F6-C255-4AC5-91C2-3F61B6509B36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A0F-9E49-6B4D-94F3-647B33A25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9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2" r:id="rId2"/>
    <p:sldLayoutId id="2147483653" r:id="rId3"/>
    <p:sldLayoutId id="2147483649" r:id="rId4"/>
    <p:sldLayoutId id="2147483654" r:id="rId5"/>
    <p:sldLayoutId id="2147483656" r:id="rId6"/>
    <p:sldLayoutId id="2147483684" r:id="rId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t&amp;rct=j&amp;q=&amp;esrc=s&amp;source=web&amp;cd=&amp;cad=rja&amp;uact=8&amp;ved=2ahUKEwju77eygJv9AhWFolwKHYKkDIUQFnoECBsQAQ&amp;url=https%3A%2F%2Fwww.mathworks.com%2Fhelp%2Fmatlab%2Fref%2Frand.html&amp;usg=AOvVaw3pqxLQVFidv6kc72f1_HrK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www.google.com/url?sa=t&amp;rct=j&amp;q=&amp;esrc=s&amp;source=web&amp;cd=&amp;cad=rja&amp;uact=8&amp;ved=2ahUKEwiaweC5gJv9AhUMO8AKHYtQCD0QFnoECBgQAQ&amp;url=https%3A%2F%2Fwww.mathworks.com%2Fhelp%2Fmatlab%2Fref%2Frandi.html&amp;usg=AOvVaw2V2fN81wu4ODtipzWo-Dd6" TargetMode="External"/><Relationship Id="rId4" Type="http://schemas.openxmlformats.org/officeDocument/2006/relationships/hyperlink" Target="https://www.google.com/url?sa=t&amp;rct=j&amp;q=&amp;esrc=s&amp;source=web&amp;cd=&amp;cad=rja&amp;uact=8&amp;ved=2ahUKEwjC1PnPgJv9AhVxmVwKHb4WBjIQFnoECBsQAQ&amp;url=https%3A%2F%2Fwww.mathworks.com%2Fhelp%2Fmatlab%2Fref%2Frandn.html&amp;usg=AOvVaw0Rco3aKtYojFiQH4e4UtNb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he Gilbert Scott Building">
            <a:extLst>
              <a:ext uri="{FF2B5EF4-FFF2-40B4-BE49-F238E27FC236}">
                <a16:creationId xmlns:a16="http://schemas.microsoft.com/office/drawing/2014/main" id="{BAB3C4BD-A67A-4D47-6D5C-637F167E7C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0418" y="1657926"/>
            <a:ext cx="8210986" cy="78970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Popular Built-in Functions (2)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FFC54586-8882-6804-A250-091EB79369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418" y="2576945"/>
            <a:ext cx="5680364" cy="1062182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Professor Bo Liu</a:t>
            </a:r>
          </a:p>
          <a:p>
            <a:r>
              <a:rPr lang="en-GB" dirty="0">
                <a:solidFill>
                  <a:schemeClr val="tx1"/>
                </a:solidFill>
              </a:rPr>
              <a:t>James Watt School of Engineering</a:t>
            </a:r>
          </a:p>
        </p:txBody>
      </p:sp>
    </p:spTree>
    <p:extLst>
      <p:ext uri="{BB962C8B-B14F-4D97-AF65-F5344CB8AC3E}">
        <p14:creationId xmlns:p14="http://schemas.microsoft.com/office/powerpoint/2010/main" val="42441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Tiling matrices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8BA90F5-D0AA-6D23-AA20-6855295D665A}"/>
              </a:ext>
            </a:extLst>
          </p:cNvPr>
          <p:cNvSpPr txBox="1">
            <a:spLocks/>
          </p:cNvSpPr>
          <p:nvPr/>
        </p:nvSpPr>
        <p:spPr>
          <a:xfrm>
            <a:off x="442037" y="1605559"/>
            <a:ext cx="11019582" cy="292062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GB" dirty="0"/>
              <a:t>Tile (repeat) matrices using “</a:t>
            </a:r>
            <a:r>
              <a:rPr lang="en-GB" dirty="0" err="1">
                <a:latin typeface="Consolas" panose="020B0609020204030204" pitchFamily="49" charset="0"/>
              </a:rPr>
              <a:t>repmat</a:t>
            </a:r>
            <a:r>
              <a:rPr lang="en-GB" dirty="0">
                <a:latin typeface="Consolas" panose="020B0609020204030204" pitchFamily="49" charset="0"/>
              </a:rPr>
              <a:t>(mat, n, m)</a:t>
            </a:r>
            <a:r>
              <a:rPr lang="en-GB" i="1" dirty="0"/>
              <a:t>”.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i="1" dirty="0"/>
              <a:t>mat</a:t>
            </a:r>
            <a:r>
              <a:rPr lang="en-GB" dirty="0"/>
              <a:t> is the matrix to be tiled.</a:t>
            </a:r>
            <a:endParaRPr lang="en-GB" i="1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dirty="0"/>
              <a:t>Tiles </a:t>
            </a:r>
            <a:r>
              <a:rPr lang="en-GB" i="1" dirty="0"/>
              <a:t>n</a:t>
            </a:r>
            <a:r>
              <a:rPr lang="en-GB" dirty="0"/>
              <a:t> times vertically.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GB" dirty="0"/>
              <a:t>Tiles </a:t>
            </a:r>
            <a:r>
              <a:rPr lang="en-GB" i="1" dirty="0"/>
              <a:t>m </a:t>
            </a:r>
            <a:r>
              <a:rPr lang="en-GB" dirty="0"/>
              <a:t>times horizontally.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884174D-F959-A9A2-59A5-E28EA7BD3C11}"/>
              </a:ext>
            </a:extLst>
          </p:cNvPr>
          <p:cNvGrpSpPr/>
          <p:nvPr/>
        </p:nvGrpSpPr>
        <p:grpSpPr>
          <a:xfrm>
            <a:off x="6641444" y="3669131"/>
            <a:ext cx="2991267" cy="1507320"/>
            <a:chOff x="5279452" y="4122907"/>
            <a:chExt cx="2991267" cy="150732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15F41E2-C8AB-8A68-7496-914BFA9D3B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9452" y="4658541"/>
              <a:ext cx="2991267" cy="971686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555291F-824B-9ABA-FEDD-280E1A54D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79452" y="4122907"/>
              <a:ext cx="1848108" cy="333422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4697E70-07B0-EDF2-DD32-19A6DFE0E5DD}"/>
              </a:ext>
            </a:extLst>
          </p:cNvPr>
          <p:cNvGrpSpPr/>
          <p:nvPr/>
        </p:nvGrpSpPr>
        <p:grpSpPr>
          <a:xfrm>
            <a:off x="4054899" y="3650079"/>
            <a:ext cx="1781424" cy="1851167"/>
            <a:chOff x="1444860" y="4251513"/>
            <a:chExt cx="1781424" cy="185116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343F1D9-F240-D537-2754-A87D5CEB9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444860" y="4251513"/>
              <a:ext cx="1781424" cy="371527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C3FA502-87D3-528D-5374-DC4D325FA6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44860" y="4806199"/>
              <a:ext cx="1781424" cy="129648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2EB1CD3-4AB7-B471-E17C-E3096FF77BA1}"/>
              </a:ext>
            </a:extLst>
          </p:cNvPr>
          <p:cNvGrpSpPr/>
          <p:nvPr/>
        </p:nvGrpSpPr>
        <p:grpSpPr>
          <a:xfrm>
            <a:off x="782459" y="3669131"/>
            <a:ext cx="10536223" cy="2545560"/>
            <a:chOff x="782459" y="3669131"/>
            <a:chExt cx="10536223" cy="254556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53279D3-CCA9-A869-16CD-7331E39D3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2459" y="3669131"/>
              <a:ext cx="2467319" cy="1286054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3" name="矩形 8">
              <a:extLst>
                <a:ext uri="{FF2B5EF4-FFF2-40B4-BE49-F238E27FC236}">
                  <a16:creationId xmlns:a16="http://schemas.microsoft.com/office/drawing/2014/main" id="{6812C293-DA41-46DB-8E32-B707DE73D0B7}"/>
                </a:ext>
              </a:extLst>
            </p:cNvPr>
            <p:cNvSpPr/>
            <p:nvPr/>
          </p:nvSpPr>
          <p:spPr>
            <a:xfrm>
              <a:off x="9774670" y="5845359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2723520-710E-D367-22C3-B3CD30DAF015}"/>
              </a:ext>
            </a:extLst>
          </p:cNvPr>
          <p:cNvSpPr/>
          <p:nvPr/>
        </p:nvSpPr>
        <p:spPr>
          <a:xfrm>
            <a:off x="4475506" y="4576595"/>
            <a:ext cx="1153338" cy="41814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73F10F-90E3-E6D1-494A-3A2E0215D4AF}"/>
              </a:ext>
            </a:extLst>
          </p:cNvPr>
          <p:cNvSpPr/>
          <p:nvPr/>
        </p:nvSpPr>
        <p:spPr>
          <a:xfrm>
            <a:off x="6988829" y="4577361"/>
            <a:ext cx="1153338" cy="41814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6015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Sorting elements in matrices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0B81069-BCF7-4E88-1B59-75CB16A08005}"/>
              </a:ext>
            </a:extLst>
          </p:cNvPr>
          <p:cNvSpPr txBox="1">
            <a:spLocks/>
          </p:cNvSpPr>
          <p:nvPr/>
        </p:nvSpPr>
        <p:spPr>
          <a:xfrm>
            <a:off x="442036" y="1605559"/>
            <a:ext cx="9719001" cy="292062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MATLAB provides the sort() function to sort in ascending or descending order.</a:t>
            </a:r>
          </a:p>
          <a:p>
            <a:pPr lvl="1">
              <a:spcBef>
                <a:spcPts val="1200"/>
              </a:spcBef>
            </a:pPr>
            <a:r>
              <a:rPr lang="en-GB" dirty="0"/>
              <a:t>Can specify a dimension along which to sort, by default sorts along columns.</a:t>
            </a:r>
          </a:p>
          <a:p>
            <a:pPr lvl="1">
              <a:spcBef>
                <a:spcPts val="1200"/>
              </a:spcBef>
            </a:pPr>
            <a:r>
              <a:rPr lang="en-GB" dirty="0"/>
              <a:t>Can sort in descending order via a third argument: </a:t>
            </a:r>
            <a:r>
              <a:rPr lang="en-GB" dirty="0">
                <a:solidFill>
                  <a:srgbClr val="A709F5"/>
                </a:solidFill>
                <a:latin typeface="Consolas" panose="020B0609020204030204" pitchFamily="49" charset="0"/>
              </a:rPr>
              <a:t>‘descend’</a:t>
            </a:r>
            <a:r>
              <a:rPr lang="en-GB" dirty="0">
                <a:latin typeface="+mj-lt"/>
              </a:rPr>
              <a:t>.</a:t>
            </a:r>
            <a:endParaRPr lang="en-GB" dirty="0">
              <a:solidFill>
                <a:srgbClr val="FF00FF"/>
              </a:solidFill>
              <a:latin typeface="Consolas" panose="020B0609020204030204" pitchFamily="49" charset="0"/>
            </a:endParaRPr>
          </a:p>
          <a:p>
            <a:pPr marL="342900" lvl="1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0F5E0F1-57BD-470A-AE5F-8049139BD948}"/>
              </a:ext>
            </a:extLst>
          </p:cNvPr>
          <p:cNvGrpSpPr/>
          <p:nvPr/>
        </p:nvGrpSpPr>
        <p:grpSpPr>
          <a:xfrm>
            <a:off x="4478682" y="4008913"/>
            <a:ext cx="3565718" cy="1820198"/>
            <a:chOff x="516593" y="4500188"/>
            <a:chExt cx="3565718" cy="182019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0597EE7-0A69-1341-1654-4308883286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608"/>
            <a:stretch/>
          </p:blipFill>
          <p:spPr>
            <a:xfrm>
              <a:off x="516593" y="4500188"/>
              <a:ext cx="3565718" cy="1426354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105C6E9-159D-E387-30AD-FC601FE0D679}"/>
                </a:ext>
              </a:extLst>
            </p:cNvPr>
            <p:cNvSpPr txBox="1"/>
            <p:nvPr/>
          </p:nvSpPr>
          <p:spPr>
            <a:xfrm>
              <a:off x="772889" y="5951054"/>
              <a:ext cx="30315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Sorting along columns (axis 1)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E1997-57FC-B141-C084-1EF395533CE2}"/>
              </a:ext>
            </a:extLst>
          </p:cNvPr>
          <p:cNvGrpSpPr/>
          <p:nvPr/>
        </p:nvGrpSpPr>
        <p:grpSpPr>
          <a:xfrm>
            <a:off x="8215638" y="4008916"/>
            <a:ext cx="3565718" cy="1820198"/>
            <a:chOff x="5061691" y="4500188"/>
            <a:chExt cx="3565718" cy="182019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B0B54A1-615B-C82D-64A9-1F563232C1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3125" b="3125"/>
            <a:stretch/>
          </p:blipFill>
          <p:spPr>
            <a:xfrm>
              <a:off x="5061691" y="4500188"/>
              <a:ext cx="3565718" cy="1399337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8E263B-FEDA-E61C-89BA-D015244CF299}"/>
                </a:ext>
              </a:extLst>
            </p:cNvPr>
            <p:cNvSpPr txBox="1"/>
            <p:nvPr/>
          </p:nvSpPr>
          <p:spPr>
            <a:xfrm>
              <a:off x="5537261" y="5951054"/>
              <a:ext cx="26981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Sorting along rows (axis 2)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9EA825C-4AB9-E788-A59B-1A3F3B8D9E57}"/>
              </a:ext>
            </a:extLst>
          </p:cNvPr>
          <p:cNvGrpSpPr/>
          <p:nvPr/>
        </p:nvGrpSpPr>
        <p:grpSpPr>
          <a:xfrm>
            <a:off x="193785" y="4007252"/>
            <a:ext cx="11124897" cy="2207439"/>
            <a:chOff x="193785" y="4007252"/>
            <a:chExt cx="11124897" cy="220743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3744E40-B537-9B99-94C6-5770486884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821"/>
            <a:stretch/>
          </p:blipFill>
          <p:spPr>
            <a:xfrm>
              <a:off x="193785" y="4007252"/>
              <a:ext cx="4138628" cy="137399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2" name="矩形 8">
              <a:extLst>
                <a:ext uri="{FF2B5EF4-FFF2-40B4-BE49-F238E27FC236}">
                  <a16:creationId xmlns:a16="http://schemas.microsoft.com/office/drawing/2014/main" id="{5B198337-70BA-E9DC-9693-A9A11BDCF3B0}"/>
                </a:ext>
              </a:extLst>
            </p:cNvPr>
            <p:cNvSpPr/>
            <p:nvPr/>
          </p:nvSpPr>
          <p:spPr>
            <a:xfrm>
              <a:off x="9774670" y="5845359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3557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7471843" cy="888786"/>
          </a:xfrm>
        </p:spPr>
        <p:txBody>
          <a:bodyPr/>
          <a:lstStyle/>
          <a:p>
            <a:r>
              <a:rPr lang="en-GB" dirty="0"/>
              <a:t>Uniformly distributed floating point numbers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DDAAE22-EE8D-1071-7650-BA3B79237D6B}"/>
              </a:ext>
            </a:extLst>
          </p:cNvPr>
          <p:cNvSpPr txBox="1">
            <a:spLocks/>
          </p:cNvSpPr>
          <p:nvPr/>
        </p:nvSpPr>
        <p:spPr>
          <a:xfrm>
            <a:off x="442037" y="1605559"/>
            <a:ext cx="9597314" cy="292062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dirty="0"/>
              <a:t>Generate a matrix of </a:t>
            </a:r>
            <a:r>
              <a:rPr lang="en-GB" i="1" dirty="0"/>
              <a:t>n</a:t>
            </a:r>
            <a:r>
              <a:rPr lang="en-GB" dirty="0"/>
              <a:t> rows and </a:t>
            </a:r>
            <a:r>
              <a:rPr lang="en-GB" i="1" dirty="0"/>
              <a:t>m</a:t>
            </a:r>
            <a:r>
              <a:rPr lang="en-GB" dirty="0"/>
              <a:t> columns of uniformly distributed floating-point numbers using the “</a:t>
            </a:r>
            <a:r>
              <a:rPr lang="en-GB" dirty="0">
                <a:latin typeface="Consolas" panose="020B0609020204030204" pitchFamily="49" charset="0"/>
              </a:rPr>
              <a:t>rand(n, m)</a:t>
            </a:r>
            <a:r>
              <a:rPr lang="en-GB" dirty="0"/>
              <a:t>” function.</a:t>
            </a:r>
          </a:p>
          <a:p>
            <a:pPr lvl="1">
              <a:spcBef>
                <a:spcPts val="1200"/>
              </a:spcBef>
            </a:pPr>
            <a:r>
              <a:rPr lang="en-GB" dirty="0"/>
              <a:t>Note only pseudo random.</a:t>
            </a:r>
          </a:p>
          <a:p>
            <a:pPr lvl="1">
              <a:spcBef>
                <a:spcPts val="1200"/>
              </a:spcBef>
            </a:pPr>
            <a:r>
              <a:rPr lang="en-GB" dirty="0"/>
              <a:t>Example, </a:t>
            </a:r>
            <a:r>
              <a:rPr lang="en-GB" i="1" dirty="0"/>
              <a:t>n </a:t>
            </a:r>
            <a:r>
              <a:rPr lang="en-GB" dirty="0"/>
              <a:t>= 3, </a:t>
            </a:r>
            <a:r>
              <a:rPr lang="en-GB" i="1" dirty="0"/>
              <a:t>m </a:t>
            </a:r>
            <a:r>
              <a:rPr lang="en-GB" dirty="0"/>
              <a:t>= 7.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20F06-0D2F-F193-593B-756B687DA2B1}"/>
              </a:ext>
            </a:extLst>
          </p:cNvPr>
          <p:cNvSpPr txBox="1">
            <a:spLocks/>
          </p:cNvSpPr>
          <p:nvPr/>
        </p:nvSpPr>
        <p:spPr>
          <a:xfrm>
            <a:off x="2152650" y="4020123"/>
            <a:ext cx="7886700" cy="246463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sz="21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CBFCD39-7B67-D118-A4A6-83787E5C73BE}"/>
              </a:ext>
            </a:extLst>
          </p:cNvPr>
          <p:cNvGrpSpPr/>
          <p:nvPr/>
        </p:nvGrpSpPr>
        <p:grpSpPr>
          <a:xfrm>
            <a:off x="1284778" y="3608606"/>
            <a:ext cx="10033904" cy="2606085"/>
            <a:chOff x="1284778" y="3608606"/>
            <a:chExt cx="10033904" cy="260608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7DD7058-18FC-45D1-C152-5035606B2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84778" y="3608606"/>
              <a:ext cx="7535837" cy="183515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5" name="矩形 8">
              <a:extLst>
                <a:ext uri="{FF2B5EF4-FFF2-40B4-BE49-F238E27FC236}">
                  <a16:creationId xmlns:a16="http://schemas.microsoft.com/office/drawing/2014/main" id="{88E9CFCE-D1D7-560B-8BF3-C450481FEFDD}"/>
                </a:ext>
              </a:extLst>
            </p:cNvPr>
            <p:cNvSpPr/>
            <p:nvPr/>
          </p:nvSpPr>
          <p:spPr>
            <a:xfrm>
              <a:off x="9774670" y="5845359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8343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7" y="533614"/>
            <a:ext cx="6380160" cy="888786"/>
          </a:xfrm>
        </p:spPr>
        <p:txBody>
          <a:bodyPr/>
          <a:lstStyle/>
          <a:p>
            <a:r>
              <a:rPr lang="en-GB" dirty="0"/>
              <a:t>Normally distributed floating-point numbers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12EC59F-641B-B09A-8EAA-53CFDB6B2DD0}"/>
              </a:ext>
            </a:extLst>
          </p:cNvPr>
          <p:cNvSpPr txBox="1">
            <a:spLocks/>
          </p:cNvSpPr>
          <p:nvPr/>
        </p:nvSpPr>
        <p:spPr>
          <a:xfrm>
            <a:off x="442036" y="1605559"/>
            <a:ext cx="9868291" cy="292062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None/>
            </a:pPr>
            <a:r>
              <a:rPr lang="en-GB" dirty="0"/>
              <a:t>Generate a matrix of </a:t>
            </a:r>
            <a:r>
              <a:rPr lang="en-GB" i="1" dirty="0"/>
              <a:t>n</a:t>
            </a:r>
            <a:r>
              <a:rPr lang="en-GB" dirty="0"/>
              <a:t> rows and </a:t>
            </a:r>
            <a:r>
              <a:rPr lang="en-GB" i="1" dirty="0"/>
              <a:t>m</a:t>
            </a:r>
            <a:r>
              <a:rPr lang="en-GB" dirty="0"/>
              <a:t> columns of normally distributed floating-point numbers using the “</a:t>
            </a:r>
            <a:r>
              <a:rPr lang="en-GB" dirty="0" err="1">
                <a:latin typeface="Consolas" panose="020B0609020204030204" pitchFamily="49" charset="0"/>
              </a:rPr>
              <a:t>randn</a:t>
            </a:r>
            <a:r>
              <a:rPr lang="en-GB" dirty="0">
                <a:latin typeface="Consolas" panose="020B0609020204030204" pitchFamily="49" charset="0"/>
              </a:rPr>
              <a:t>(n, m)</a:t>
            </a:r>
            <a:r>
              <a:rPr lang="en-GB" dirty="0"/>
              <a:t>” function.</a:t>
            </a:r>
          </a:p>
          <a:p>
            <a:pPr lvl="1">
              <a:spcBef>
                <a:spcPts val="1200"/>
              </a:spcBef>
            </a:pPr>
            <a:r>
              <a:rPr lang="en-GB" dirty="0"/>
              <a:t>Note only pseudo random.</a:t>
            </a:r>
          </a:p>
          <a:p>
            <a:pPr lvl="1">
              <a:spcBef>
                <a:spcPts val="1200"/>
              </a:spcBef>
            </a:pPr>
            <a:r>
              <a:rPr lang="en-GB" dirty="0"/>
              <a:t>Example, </a:t>
            </a:r>
            <a:r>
              <a:rPr lang="en-GB" i="1" dirty="0"/>
              <a:t>n </a:t>
            </a:r>
            <a:r>
              <a:rPr lang="en-GB" dirty="0"/>
              <a:t>= 3, </a:t>
            </a:r>
            <a:r>
              <a:rPr lang="en-GB" i="1" dirty="0"/>
              <a:t>m </a:t>
            </a:r>
            <a:r>
              <a:rPr lang="en-GB" dirty="0"/>
              <a:t>= 7.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FEB1A78-7AC3-8330-BB2F-B56B869B5065}"/>
              </a:ext>
            </a:extLst>
          </p:cNvPr>
          <p:cNvGrpSpPr/>
          <p:nvPr/>
        </p:nvGrpSpPr>
        <p:grpSpPr>
          <a:xfrm>
            <a:off x="1327758" y="3519814"/>
            <a:ext cx="9990924" cy="2694877"/>
            <a:chOff x="1327758" y="3519814"/>
            <a:chExt cx="9990924" cy="269487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46EB5DC-42A6-55AB-2F59-BB2AC1FAE4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27758" y="3519814"/>
              <a:ext cx="7461115" cy="191014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4" name="矩形 8">
              <a:extLst>
                <a:ext uri="{FF2B5EF4-FFF2-40B4-BE49-F238E27FC236}">
                  <a16:creationId xmlns:a16="http://schemas.microsoft.com/office/drawing/2014/main" id="{A0A94631-B357-C0C7-714E-2D0BB038CCD9}"/>
                </a:ext>
              </a:extLst>
            </p:cNvPr>
            <p:cNvSpPr/>
            <p:nvPr/>
          </p:nvSpPr>
          <p:spPr>
            <a:xfrm>
              <a:off x="9774670" y="5845359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5193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Uniformly distributed integers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D992B0D-1A68-93CC-96DB-20D3AA4151FA}"/>
              </a:ext>
            </a:extLst>
          </p:cNvPr>
          <p:cNvSpPr txBox="1">
            <a:spLocks/>
          </p:cNvSpPr>
          <p:nvPr/>
        </p:nvSpPr>
        <p:spPr>
          <a:xfrm>
            <a:off x="698488" y="2880734"/>
            <a:ext cx="11237057" cy="344365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endParaRPr lang="en-GB" sz="2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84135-2C8D-F475-09FD-BF7120526683}"/>
              </a:ext>
            </a:extLst>
          </p:cNvPr>
          <p:cNvSpPr txBox="1">
            <a:spLocks/>
          </p:cNvSpPr>
          <p:nvPr/>
        </p:nvSpPr>
        <p:spPr>
          <a:xfrm>
            <a:off x="442037" y="1605559"/>
            <a:ext cx="9579042" cy="292062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n-GB" dirty="0"/>
              <a:t>Generate a matrix of </a:t>
            </a:r>
            <a:r>
              <a:rPr lang="en-GB" i="1" dirty="0"/>
              <a:t>n</a:t>
            </a:r>
            <a:r>
              <a:rPr lang="en-GB" dirty="0"/>
              <a:t> rows and columns of uniformly distributed integers between 1 and </a:t>
            </a:r>
            <a:r>
              <a:rPr lang="en-GB" i="1" dirty="0" err="1"/>
              <a:t>imax</a:t>
            </a:r>
            <a:r>
              <a:rPr lang="en-GB" dirty="0"/>
              <a:t> using the “</a:t>
            </a:r>
            <a:r>
              <a:rPr lang="en-GB" dirty="0" err="1">
                <a:latin typeface="Consolas" panose="020B0609020204030204" pitchFamily="49" charset="0"/>
              </a:rPr>
              <a:t>randi</a:t>
            </a:r>
            <a:r>
              <a:rPr lang="en-GB" dirty="0">
                <a:latin typeface="Consolas" panose="020B0609020204030204" pitchFamily="49" charset="0"/>
              </a:rPr>
              <a:t>(</a:t>
            </a:r>
            <a:r>
              <a:rPr lang="en-GB" dirty="0" err="1">
                <a:latin typeface="Consolas" panose="020B0609020204030204" pitchFamily="49" charset="0"/>
              </a:rPr>
              <a:t>imax</a:t>
            </a:r>
            <a:r>
              <a:rPr lang="en-GB" dirty="0">
                <a:latin typeface="Consolas" panose="020B0609020204030204" pitchFamily="49" charset="0"/>
              </a:rPr>
              <a:t>, n)</a:t>
            </a:r>
            <a:r>
              <a:rPr lang="en-GB" dirty="0"/>
              <a:t>” function.</a:t>
            </a:r>
          </a:p>
          <a:p>
            <a:pPr lvl="1">
              <a:spcBef>
                <a:spcPts val="1200"/>
              </a:spcBef>
            </a:pPr>
            <a:r>
              <a:rPr lang="en-GB" dirty="0"/>
              <a:t>Note only pseudo random.</a:t>
            </a:r>
          </a:p>
          <a:p>
            <a:pPr lvl="1">
              <a:spcBef>
                <a:spcPts val="1200"/>
              </a:spcBef>
            </a:pPr>
            <a:r>
              <a:rPr lang="en-GB" dirty="0"/>
              <a:t>Example, </a:t>
            </a:r>
            <a:r>
              <a:rPr lang="en-GB" i="1" dirty="0" err="1"/>
              <a:t>imax</a:t>
            </a:r>
            <a:r>
              <a:rPr lang="en-GB" i="1" dirty="0"/>
              <a:t> </a:t>
            </a:r>
            <a:r>
              <a:rPr lang="en-GB" dirty="0"/>
              <a:t>= 9, </a:t>
            </a:r>
            <a:r>
              <a:rPr lang="en-GB" i="1" dirty="0"/>
              <a:t>n =  4.</a:t>
            </a:r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30C2353-FF03-39FE-2149-416255D82F7D}"/>
              </a:ext>
            </a:extLst>
          </p:cNvPr>
          <p:cNvGrpSpPr/>
          <p:nvPr/>
        </p:nvGrpSpPr>
        <p:grpSpPr>
          <a:xfrm>
            <a:off x="2255532" y="3593778"/>
            <a:ext cx="9063150" cy="2730608"/>
            <a:chOff x="2255532" y="3593778"/>
            <a:chExt cx="9063150" cy="273060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48A4A94-CD71-C5AD-485C-03935A50FC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55532" y="3593778"/>
              <a:ext cx="3840468" cy="2730608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5" name="矩形 8">
              <a:extLst>
                <a:ext uri="{FF2B5EF4-FFF2-40B4-BE49-F238E27FC236}">
                  <a16:creationId xmlns:a16="http://schemas.microsoft.com/office/drawing/2014/main" id="{3772B5E0-C6A7-7E2C-19AB-93A3FFFCEEB8}"/>
                </a:ext>
              </a:extLst>
            </p:cNvPr>
            <p:cNvSpPr/>
            <p:nvPr/>
          </p:nvSpPr>
          <p:spPr>
            <a:xfrm>
              <a:off x="9774670" y="5845359"/>
              <a:ext cx="1544012" cy="369332"/>
            </a:xfrm>
            <a:prstGeom prst="rect">
              <a:avLst/>
            </a:prstGeom>
            <a:solidFill>
              <a:srgbClr val="E7E6E6"/>
            </a:solidFill>
            <a:ln w="19050">
              <a:solidFill>
                <a:srgbClr val="FF0000"/>
              </a:solidFill>
            </a:ln>
          </p:spPr>
          <p:txBody>
            <a:bodyPr wrap="square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itchFamily="18" charset="0"/>
                  <a:cs typeface="Times New Roman" pitchFamily="18" charset="0"/>
                </a:rPr>
                <a:t>See live script</a:t>
              </a: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49739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University at sunset">
            <a:extLst>
              <a:ext uri="{FF2B5EF4-FFF2-40B4-BE49-F238E27FC236}">
                <a16:creationId xmlns:a16="http://schemas.microsoft.com/office/drawing/2014/main" id="{11FDCD37-95D4-D94F-8143-5384ADC6A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75F20C-468E-F742-9149-B8A5FEBC291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45886" y="1889351"/>
            <a:ext cx="5842000" cy="1931535"/>
          </a:xfrm>
        </p:spPr>
        <p:txBody>
          <a:bodyPr>
            <a:noAutofit/>
          </a:bodyPr>
          <a:lstStyle/>
          <a:p>
            <a:pPr algn="l"/>
            <a:r>
              <a:rPr lang="en-GB">
                <a:solidFill>
                  <a:schemeClr val="bg1"/>
                </a:solidFill>
              </a:rPr>
              <a:t>Thanks!</a:t>
            </a:r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22ED6EA-1EF6-E99C-8D46-A77E8079F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85228" y="5699322"/>
            <a:ext cx="3413095" cy="854153"/>
            <a:chOff x="8385228" y="5699322"/>
            <a:chExt cx="3413095" cy="854153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44E80E0-21D5-A09C-9C43-3B822C05837D}"/>
                </a:ext>
              </a:extLst>
            </p:cNvPr>
            <p:cNvSpPr txBox="1"/>
            <p:nvPr/>
          </p:nvSpPr>
          <p:spPr>
            <a:xfrm>
              <a:off x="8385228" y="5699322"/>
              <a:ext cx="3413095" cy="461665"/>
            </a:xfrm>
            <a:prstGeom prst="rect">
              <a:avLst/>
            </a:prstGeom>
            <a:noFill/>
            <a:effectLst>
              <a:outerShdw blurRad="1270000" dist="50800" dir="5400000" sx="200000" sy="200000" algn="ctr" rotWithShape="0">
                <a:schemeClr val="tx1"/>
              </a:outerShdw>
            </a:effectLst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#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UofGWorldChangers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92BBCD2-E264-1B57-0E93-92E9DB639953}"/>
                </a:ext>
              </a:extLst>
            </p:cNvPr>
            <p:cNvSpPr txBox="1"/>
            <p:nvPr/>
          </p:nvSpPr>
          <p:spPr>
            <a:xfrm>
              <a:off x="9098531" y="6091810"/>
              <a:ext cx="26997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@</a:t>
              </a:r>
              <a:r>
                <a:rPr lang="en-US" sz="2400" b="1" dirty="0" err="1">
                  <a:solidFill>
                    <a:schemeClr val="bg1"/>
                  </a:solidFill>
                  <a:latin typeface="Arial" panose="020B0604020202020204" pitchFamily="34" charset="0"/>
                  <a:ea typeface="Arial" charset="0"/>
                  <a:cs typeface="Arial" panose="020B0604020202020204" pitchFamily="34" charset="0"/>
                </a:rPr>
                <a:t>UofGlasgow</a:t>
              </a:r>
              <a:endParaRPr lang="en-US" sz="2400" b="1" dirty="0">
                <a:solidFill>
                  <a:schemeClr val="bg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endParaRP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4EA5A01-D67E-B5A8-4983-B4E38F735C71}"/>
                </a:ext>
              </a:extLst>
            </p:cNvPr>
            <p:cNvGrpSpPr/>
            <p:nvPr/>
          </p:nvGrpSpPr>
          <p:grpSpPr>
            <a:xfrm>
              <a:off x="8516481" y="6162367"/>
              <a:ext cx="841333" cy="347112"/>
              <a:chOff x="8601252" y="6162367"/>
              <a:chExt cx="841333" cy="347112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8049EAA7-B259-E0CF-6188-D83E4A7650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778761" y="6162367"/>
                <a:ext cx="475023" cy="347112"/>
              </a:xfrm>
              <a:prstGeom prst="rect">
                <a:avLst/>
              </a:prstGeom>
            </p:spPr>
          </p:pic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C9EF044C-8E77-0253-404C-AEACFCC1AE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194185" y="6223334"/>
                <a:ext cx="248400" cy="248399"/>
              </a:xfrm>
              <a:prstGeom prst="rect">
                <a:avLst/>
              </a:prstGeom>
            </p:spPr>
          </p:pic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1EFBA2B9-08B7-B52F-FE3B-91DCAC58DC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8601252" y="6221141"/>
                <a:ext cx="239105" cy="23910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06378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Pseudo random numbers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矩形 8">
            <a:extLst>
              <a:ext uri="{FF2B5EF4-FFF2-40B4-BE49-F238E27FC236}">
                <a16:creationId xmlns:a16="http://schemas.microsoft.com/office/drawing/2014/main" id="{E808F4FD-E34B-BF28-7BB8-ACCC6533242C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EA6218D-D077-75E4-3F2E-3AA7DC0CBCB5}"/>
              </a:ext>
            </a:extLst>
          </p:cNvPr>
          <p:cNvSpPr txBox="1">
            <a:spLocks/>
          </p:cNvSpPr>
          <p:nvPr/>
        </p:nvSpPr>
        <p:spPr>
          <a:xfrm>
            <a:off x="559461" y="1594052"/>
            <a:ext cx="9735015" cy="366989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Generate uniformly random, normally distributed, or random integer permutations with built-in functions.</a:t>
            </a:r>
          </a:p>
          <a:p>
            <a:pPr lvl="1"/>
            <a:r>
              <a:rPr lang="en-GB" dirty="0"/>
              <a:t>Note, only pseudo random.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B257D8C-9175-DB0E-7DD4-0DBB4C8D78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7614785"/>
              </p:ext>
            </p:extLst>
          </p:nvPr>
        </p:nvGraphicFramePr>
        <p:xfrm>
          <a:off x="559461" y="2919692"/>
          <a:ext cx="10665690" cy="271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4959">
                  <a:extLst>
                    <a:ext uri="{9D8B030D-6E8A-4147-A177-3AD203B41FA5}">
                      <a16:colId xmlns:a16="http://schemas.microsoft.com/office/drawing/2014/main" val="1120946659"/>
                    </a:ext>
                  </a:extLst>
                </a:gridCol>
                <a:gridCol w="8760731">
                  <a:extLst>
                    <a:ext uri="{9D8B030D-6E8A-4147-A177-3AD203B41FA5}">
                      <a16:colId xmlns:a16="http://schemas.microsoft.com/office/drawing/2014/main" val="1783415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Function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Description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429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200" i="0" dirty="0">
                          <a:hlinkClick r:id="rId3"/>
                        </a:rPr>
                        <a:t>rand</a:t>
                      </a:r>
                      <a:r>
                        <a:rPr lang="en-GB" sz="2200" i="1" dirty="0">
                          <a:hlinkClick r:id="rId3"/>
                        </a:rPr>
                        <a:t>(m</a:t>
                      </a:r>
                      <a:r>
                        <a:rPr lang="en-GB" sz="2200" i="0" dirty="0">
                          <a:hlinkClick r:id="rId3"/>
                        </a:rPr>
                        <a:t>, </a:t>
                      </a:r>
                      <a:r>
                        <a:rPr lang="en-GB" sz="2200" i="1" dirty="0">
                          <a:hlinkClick r:id="rId3"/>
                        </a:rPr>
                        <a:t>n</a:t>
                      </a:r>
                      <a:r>
                        <a:rPr lang="en-GB" sz="2200" i="0" dirty="0">
                          <a:hlinkClick r:id="rId3"/>
                        </a:rPr>
                        <a:t>)</a:t>
                      </a:r>
                      <a:endParaRPr lang="en-GB" sz="22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Creates a matrix of </a:t>
                      </a:r>
                      <a:r>
                        <a:rPr lang="en-GB" sz="2200" i="1" dirty="0"/>
                        <a:t>m</a:t>
                      </a:r>
                      <a:r>
                        <a:rPr lang="en-GB" sz="2200" i="0" dirty="0"/>
                        <a:t> rows and </a:t>
                      </a:r>
                      <a:r>
                        <a:rPr lang="en-GB" sz="2200" i="1" dirty="0"/>
                        <a:t>n</a:t>
                      </a:r>
                      <a:r>
                        <a:rPr lang="en-GB" sz="2200" i="0" dirty="0"/>
                        <a:t> columns where each element is a uniformly randomly distributed floating point number between 0 and 1.</a:t>
                      </a:r>
                      <a:endParaRPr lang="en-GB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723596"/>
                  </a:ext>
                </a:extLst>
              </a:tr>
              <a:tr h="369562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hlinkClick r:id="rId4"/>
                        </a:rPr>
                        <a:t>randn</a:t>
                      </a:r>
                      <a:r>
                        <a:rPr lang="en-GB" sz="2200" i="0" dirty="0">
                          <a:hlinkClick r:id="rId4"/>
                        </a:rPr>
                        <a:t>(</a:t>
                      </a:r>
                      <a:r>
                        <a:rPr lang="en-GB" sz="2200" i="1" dirty="0">
                          <a:hlinkClick r:id="rId4"/>
                        </a:rPr>
                        <a:t>m, n</a:t>
                      </a:r>
                      <a:r>
                        <a:rPr lang="en-GB" sz="2200" i="0" dirty="0">
                          <a:hlinkClick r:id="rId4"/>
                        </a:rPr>
                        <a:t>)</a:t>
                      </a:r>
                      <a:endParaRPr lang="en-GB" sz="22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Creates a matrix of </a:t>
                      </a:r>
                      <a:r>
                        <a:rPr lang="en-GB" sz="2200" i="1" dirty="0"/>
                        <a:t>m</a:t>
                      </a:r>
                      <a:r>
                        <a:rPr lang="en-GB" sz="2200" i="0" dirty="0"/>
                        <a:t> rows and </a:t>
                      </a:r>
                      <a:r>
                        <a:rPr lang="en-GB" sz="2200" i="1" dirty="0"/>
                        <a:t>n</a:t>
                      </a:r>
                      <a:r>
                        <a:rPr lang="en-GB" sz="2200" i="0" dirty="0"/>
                        <a:t> columns where each element is a Gaussian distributed random floating point number between 0 and 1.</a:t>
                      </a:r>
                      <a:endParaRPr lang="en-GB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49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 err="1">
                          <a:hlinkClick r:id="rId5"/>
                        </a:rPr>
                        <a:t>randi</a:t>
                      </a:r>
                      <a:r>
                        <a:rPr lang="en-GB" sz="2200" i="0" dirty="0">
                          <a:hlinkClick r:id="rId5"/>
                        </a:rPr>
                        <a:t>(</a:t>
                      </a:r>
                      <a:r>
                        <a:rPr lang="en-GB" sz="2200" i="1" dirty="0">
                          <a:hlinkClick r:id="rId5"/>
                        </a:rPr>
                        <a:t>imax, n</a:t>
                      </a:r>
                      <a:r>
                        <a:rPr lang="en-GB" sz="2200" i="0" dirty="0">
                          <a:hlinkClick r:id="rId5"/>
                        </a:rPr>
                        <a:t>)</a:t>
                      </a:r>
                      <a:endParaRPr lang="en-GB" sz="2200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/>
                        <a:t>Creates a square matrix of </a:t>
                      </a:r>
                      <a:r>
                        <a:rPr lang="en-GB" sz="2200" i="1" dirty="0"/>
                        <a:t>n</a:t>
                      </a:r>
                      <a:r>
                        <a:rPr lang="en-GB" sz="2200" i="0" dirty="0"/>
                        <a:t> rows and columns with random integers between 1 and </a:t>
                      </a:r>
                      <a:r>
                        <a:rPr lang="en-GB" sz="2200" i="1" dirty="0"/>
                        <a:t>imax.</a:t>
                      </a:r>
                      <a:endParaRPr lang="en-GB" sz="2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627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998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8A487A5-99BF-B4FE-B346-51D459F3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9236" y="533614"/>
            <a:ext cx="9210963" cy="888786"/>
          </a:xfrm>
        </p:spPr>
        <p:txBody>
          <a:bodyPr/>
          <a:lstStyle/>
          <a:p>
            <a:r>
              <a:rPr lang="en-GB" dirty="0"/>
              <a:t>Other common functions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矩形 8">
            <a:extLst>
              <a:ext uri="{FF2B5EF4-FFF2-40B4-BE49-F238E27FC236}">
                <a16:creationId xmlns:a16="http://schemas.microsoft.com/office/drawing/2014/main" id="{E808F4FD-E34B-BF28-7BB8-ACCC6533242C}"/>
              </a:ext>
            </a:extLst>
          </p:cNvPr>
          <p:cNvSpPr/>
          <p:nvPr/>
        </p:nvSpPr>
        <p:spPr>
          <a:xfrm>
            <a:off x="9589713" y="6000877"/>
            <a:ext cx="1544012" cy="369332"/>
          </a:xfrm>
          <a:prstGeom prst="rect">
            <a:avLst/>
          </a:prstGeom>
          <a:solidFill>
            <a:srgbClr val="E7E6E6"/>
          </a:solidFill>
          <a:ln w="1905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See live script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0A39954-D238-48A0-6926-82EEAD06C1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2235305"/>
              </p:ext>
            </p:extLst>
          </p:nvPr>
        </p:nvGraphicFramePr>
        <p:xfrm>
          <a:off x="829371" y="1945409"/>
          <a:ext cx="9953857" cy="17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5205">
                  <a:extLst>
                    <a:ext uri="{9D8B030D-6E8A-4147-A177-3AD203B41FA5}">
                      <a16:colId xmlns:a16="http://schemas.microsoft.com/office/drawing/2014/main" val="1120946659"/>
                    </a:ext>
                  </a:extLst>
                </a:gridCol>
                <a:gridCol w="7348652">
                  <a:extLst>
                    <a:ext uri="{9D8B030D-6E8A-4147-A177-3AD203B41FA5}">
                      <a16:colId xmlns:a16="http://schemas.microsoft.com/office/drawing/2014/main" val="17834150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Function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>
                    <a:solidFill>
                      <a:srgbClr val="0035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429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</a:t>
                      </a:r>
                      <a:r>
                        <a:rPr lang="en-GB" sz="2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(a, b</a:t>
                      </a:r>
                      <a:r>
                        <a:rPr lang="en-GB" sz="22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Returns the remainder when </a:t>
                      </a:r>
                      <a:r>
                        <a:rPr lang="en-GB" sz="2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is divided by </a:t>
                      </a:r>
                      <a:r>
                        <a:rPr lang="en-GB" sz="2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2723596"/>
                  </a:ext>
                </a:extLst>
              </a:tr>
              <a:tr h="369562"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</a:t>
                      </a:r>
                      <a:r>
                        <a:rPr lang="en-GB" sz="2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(a, b</a:t>
                      </a:r>
                      <a:r>
                        <a:rPr lang="en-GB" sz="22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Returns the modulus when </a:t>
                      </a:r>
                      <a:r>
                        <a:rPr lang="en-GB" sz="2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is divided by </a:t>
                      </a:r>
                      <a:r>
                        <a:rPr lang="en-GB" sz="2200" i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949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200" i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Returns the absolute value of the input.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62783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9110B12-FE2D-1510-D875-B9B917438B01}"/>
              </a:ext>
            </a:extLst>
          </p:cNvPr>
          <p:cNvSpPr txBox="1"/>
          <p:nvPr/>
        </p:nvSpPr>
        <p:spPr>
          <a:xfrm>
            <a:off x="829371" y="4059151"/>
            <a:ext cx="7886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These functions can also be used with matrices.</a:t>
            </a:r>
          </a:p>
        </p:txBody>
      </p:sp>
    </p:spTree>
    <p:extLst>
      <p:ext uri="{BB962C8B-B14F-4D97-AF65-F5344CB8AC3E}">
        <p14:creationId xmlns:p14="http://schemas.microsoft.com/office/powerpoint/2010/main" val="1498512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UofG colours">
      <a:dk1>
        <a:srgbClr val="003865"/>
      </a:dk1>
      <a:lt1>
        <a:srgbClr val="FFFFFE"/>
      </a:lt1>
      <a:dk2>
        <a:srgbClr val="000000"/>
      </a:dk2>
      <a:lt2>
        <a:srgbClr val="7D2238"/>
      </a:lt2>
      <a:accent1>
        <a:srgbClr val="0075B0"/>
      </a:accent1>
      <a:accent2>
        <a:srgbClr val="5B4D93"/>
      </a:accent2>
      <a:accent3>
        <a:srgbClr val="CF1C20"/>
      </a:accent3>
      <a:accent4>
        <a:srgbClr val="00833C"/>
      </a:accent4>
      <a:accent5>
        <a:srgbClr val="BE4D00"/>
      </a:accent5>
      <a:accent6>
        <a:srgbClr val="951271"/>
      </a:accent6>
      <a:hlink>
        <a:srgbClr val="584B3D"/>
      </a:hlink>
      <a:folHlink>
        <a:srgbClr val="0068A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1AF5F2-503D-2641-86A1-09AD8919EA9C}" vid="{A816E7D6-9491-074F-A4D5-6596497DA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3DDD16490E0A48848881CB6EECDF92" ma:contentTypeVersion="14" ma:contentTypeDescription="Create a new document." ma:contentTypeScope="" ma:versionID="7257862a4d6c3825659cc59ecdb78f01">
  <xsd:schema xmlns:xsd="http://www.w3.org/2001/XMLSchema" xmlns:xs="http://www.w3.org/2001/XMLSchema" xmlns:p="http://schemas.microsoft.com/office/2006/metadata/properties" xmlns:ns2="1cc9bed8-8410-44eb-bf25-ca1ea4636418" xmlns:ns3="dfc159fb-6789-415c-9027-b0bc58ba83c2" targetNamespace="http://schemas.microsoft.com/office/2006/metadata/properties" ma:root="true" ma:fieldsID="e75013956d80933023b8c9f213f858d3" ns2:_="" ns3:_="">
    <xsd:import namespace="1cc9bed8-8410-44eb-bf25-ca1ea4636418"/>
    <xsd:import namespace="dfc159fb-6789-415c-9027-b0bc58ba83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c9bed8-8410-44eb-bf25-ca1ea463641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306b285-ac2c-4225-b56d-e54690cf9c9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c159fb-6789-415c-9027-b0bc58ba83c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79eadc21-23c5-47b9-90bf-40474c6df852}" ma:internalName="TaxCatchAll" ma:showField="CatchAllData" ma:web="dfc159fb-6789-415c-9027-b0bc58ba83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cc9bed8-8410-44eb-bf25-ca1ea4636418">
      <Terms xmlns="http://schemas.microsoft.com/office/infopath/2007/PartnerControls"/>
    </lcf76f155ced4ddcb4097134ff3c332f>
    <TaxCatchAll xmlns="dfc159fb-6789-415c-9027-b0bc58ba83c2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9A1F72-A84F-42F5-B4BF-F231BAFDF6D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c9bed8-8410-44eb-bf25-ca1ea4636418"/>
    <ds:schemaRef ds:uri="dfc159fb-6789-415c-9027-b0bc58ba83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10D128A-82C8-4FA8-AE32-C04D5CC10769}">
  <ds:schemaRefs>
    <ds:schemaRef ds:uri="http://schemas.microsoft.com/office/2006/metadata/properties"/>
    <ds:schemaRef ds:uri="http://schemas.microsoft.com/office/infopath/2007/PartnerControls"/>
    <ds:schemaRef ds:uri="1cc9bed8-8410-44eb-bf25-ca1ea4636418"/>
    <ds:schemaRef ds:uri="dfc159fb-6789-415c-9027-b0bc58ba83c2"/>
  </ds:schemaRefs>
</ds:datastoreItem>
</file>

<file path=customXml/itemProps3.xml><?xml version="1.0" encoding="utf-8"?>
<ds:datastoreItem xmlns:ds="http://schemas.openxmlformats.org/officeDocument/2006/customXml" ds:itemID="{528208B2-6F77-4191-9CB7-5E6CC0A2CD2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1845</TotalTime>
  <Words>446</Words>
  <Application>Microsoft Office PowerPoint</Application>
  <PresentationFormat>Widescreen</PresentationFormat>
  <Paragraphs>66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Times New Roman</vt:lpstr>
      <vt:lpstr>Office Theme</vt:lpstr>
      <vt:lpstr>Popular Built-in Functions (2)</vt:lpstr>
      <vt:lpstr>Tiling matrices</vt:lpstr>
      <vt:lpstr>Sorting elements in matrices</vt:lpstr>
      <vt:lpstr>Uniformly distributed floating point numbers</vt:lpstr>
      <vt:lpstr>Normally distributed floating-point numbers</vt:lpstr>
      <vt:lpstr>Uniformly distributed integers</vt:lpstr>
      <vt:lpstr>Thanks!</vt:lpstr>
      <vt:lpstr>Pseudo random numbers</vt:lpstr>
      <vt:lpstr>Other common functions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cp:lastModifiedBy>Bo Liu</cp:lastModifiedBy>
  <cp:revision>71</cp:revision>
  <dcterms:created xsi:type="dcterms:W3CDTF">2021-01-06T14:22:07Z</dcterms:created>
  <dcterms:modified xsi:type="dcterms:W3CDTF">2024-06-24T11:18:11Z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0x0101009C3DDD16490E0A48848881CB6EECDF92</vt:lpwstr>
  </property>
  <property fmtid="{D5CDD505-2E9C-101B-9397-08002B2CF9AE}" pid="3" name="MediaServiceImageTags">
    <vt:lpwstr/>
  </property>
</Properties>
</file>