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0"/>
  </p:notesMasterIdLst>
  <p:sldIdLst>
    <p:sldId id="256" r:id="rId5"/>
    <p:sldId id="494" r:id="rId6"/>
    <p:sldId id="496" r:id="rId7"/>
    <p:sldId id="497" r:id="rId8"/>
    <p:sldId id="508" r:id="rId9"/>
    <p:sldId id="498" r:id="rId10"/>
    <p:sldId id="499" r:id="rId11"/>
    <p:sldId id="500" r:id="rId12"/>
    <p:sldId id="509" r:id="rId13"/>
    <p:sldId id="510" r:id="rId14"/>
    <p:sldId id="511" r:id="rId15"/>
    <p:sldId id="501" r:id="rId16"/>
    <p:sldId id="502" r:id="rId17"/>
    <p:sldId id="273" r:id="rId18"/>
    <p:sldId id="495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5F7D25-9AB1-E3B1-CC63-FF09786452F4}" v="3" dt="2024-10-16T02:10:03.5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3359" autoAdjust="0"/>
    <p:restoredTop sz="96327"/>
  </p:normalViewPr>
  <p:slideViewPr>
    <p:cSldViewPr snapToGrid="0">
      <p:cViewPr varScale="1">
        <p:scale>
          <a:sx n="153" d="100"/>
          <a:sy n="153" d="100"/>
        </p:scale>
        <p:origin x="92" y="160"/>
      </p:cViewPr>
      <p:guideLst/>
    </p:cSldViewPr>
  </p:slideViewPr>
  <p:outlineViewPr>
    <p:cViewPr>
      <p:scale>
        <a:sx n="30" d="100"/>
        <a:sy n="3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 Liu" userId="S::bo.liu@glasgow.ac.uk::9f3cef8d-a62c-47d5-a5f2-d612cd92c880" providerId="AD" clId="Web-{D75F7D25-9AB1-E3B1-CC63-FF09786452F4}"/>
    <pc:docChg chg="modSld">
      <pc:chgData name="Bo Liu" userId="S::bo.liu@glasgow.ac.uk::9f3cef8d-a62c-47d5-a5f2-d612cd92c880" providerId="AD" clId="Web-{D75F7D25-9AB1-E3B1-CC63-FF09786452F4}" dt="2024-10-16T02:10:03.537" v="2" actId="20577"/>
      <pc:docMkLst>
        <pc:docMk/>
      </pc:docMkLst>
      <pc:sldChg chg="modSp">
        <pc:chgData name="Bo Liu" userId="S::bo.liu@glasgow.ac.uk::9f3cef8d-a62c-47d5-a5f2-d612cd92c880" providerId="AD" clId="Web-{D75F7D25-9AB1-E3B1-CC63-FF09786452F4}" dt="2024-10-16T02:10:03.537" v="2" actId="20577"/>
        <pc:sldMkLst>
          <pc:docMk/>
          <pc:sldMk cId="1299329" sldId="501"/>
        </pc:sldMkLst>
        <pc:spChg chg="mod">
          <ac:chgData name="Bo Liu" userId="S::bo.liu@glasgow.ac.uk::9f3cef8d-a62c-47d5-a5f2-d612cd92c880" providerId="AD" clId="Web-{D75F7D25-9AB1-E3B1-CC63-FF09786452F4}" dt="2024-10-16T02:10:03.537" v="2" actId="20577"/>
          <ac:spMkLst>
            <pc:docMk/>
            <pc:sldMk cId="1299329" sldId="501"/>
            <ac:spMk id="2" creationId="{247EE28C-49D5-57E1-1D53-27A9D780B82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10/15/2024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02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6670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7129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6012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048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4045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3901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5022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9786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9458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628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5648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946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6393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E31514-F8EA-5D4E-B45D-65DD78DB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1D55F9-A3F2-1242-A5F3-5AAACC9D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15/10/2024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2" r:id="rId2"/>
    <p:sldLayoutId id="2147483653" r:id="rId3"/>
    <p:sldLayoutId id="2147483649" r:id="rId4"/>
    <p:sldLayoutId id="2147483654" r:id="rId5"/>
    <p:sldLayoutId id="2147483656" r:id="rId6"/>
    <p:sldLayoutId id="2147483684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e Gilbert Scott Building">
            <a:extLst>
              <a:ext uri="{FF2B5EF4-FFF2-40B4-BE49-F238E27FC236}">
                <a16:creationId xmlns:a16="http://schemas.microsoft.com/office/drawing/2014/main" id="{BAB3C4BD-A67A-4D47-6D5C-637F167E7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8210986" cy="78970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MATLAB Scripts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FC54586-8882-6804-A250-091EB7936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418" y="2576945"/>
            <a:ext cx="5680364" cy="1062182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Professor Bo Liu</a:t>
            </a:r>
          </a:p>
          <a:p>
            <a:r>
              <a:rPr lang="en-GB" dirty="0">
                <a:solidFill>
                  <a:schemeClr val="tx1"/>
                </a:solidFill>
              </a:rPr>
              <a:t>James Watt School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MATLAB scripts	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0ED5906-DF82-6816-1717-3DF29624DFFC}"/>
              </a:ext>
            </a:extLst>
          </p:cNvPr>
          <p:cNvSpPr txBox="1">
            <a:spLocks/>
          </p:cNvSpPr>
          <p:nvPr/>
        </p:nvSpPr>
        <p:spPr>
          <a:xfrm>
            <a:off x="535343" y="1753737"/>
            <a:ext cx="10474779" cy="416187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GB" dirty="0"/>
              <a:t>Compile multiple lines of MATLAB code into a script</a:t>
            </a:r>
          </a:p>
          <a:p>
            <a:pPr lvl="1">
              <a:spcBef>
                <a:spcPts val="1200"/>
              </a:spcBef>
            </a:pPr>
            <a:r>
              <a:rPr lang="en-GB" sz="2100" dirty="0"/>
              <a:t>Reusable</a:t>
            </a:r>
            <a:r>
              <a:rPr lang="en-US" sz="2100" dirty="0"/>
              <a:t>.</a:t>
            </a:r>
            <a:endParaRPr lang="en-GB" sz="2100" dirty="0"/>
          </a:p>
          <a:p>
            <a:pPr lvl="1">
              <a:spcBef>
                <a:spcPts val="1200"/>
              </a:spcBef>
            </a:pPr>
            <a:r>
              <a:rPr lang="en-GB" sz="2100" dirty="0"/>
              <a:t>Scalable.</a:t>
            </a:r>
          </a:p>
          <a:p>
            <a:pPr lvl="1">
              <a:spcBef>
                <a:spcPts val="1200"/>
              </a:spcBef>
            </a:pPr>
            <a:r>
              <a:rPr lang="en-GB" sz="2100" dirty="0"/>
              <a:t>Easier to debug.</a:t>
            </a:r>
          </a:p>
          <a:p>
            <a:pPr lvl="1">
              <a:spcBef>
                <a:spcPts val="1200"/>
              </a:spcBef>
            </a:pPr>
            <a:r>
              <a:rPr lang="en-GB" sz="2100" dirty="0"/>
              <a:t>Easier to share.</a:t>
            </a:r>
          </a:p>
          <a:p>
            <a:pPr marL="0" indent="0">
              <a:spcBef>
                <a:spcPts val="1200"/>
              </a:spcBef>
              <a:buNone/>
            </a:pPr>
            <a:endParaRPr lang="en-GB" dirty="0"/>
          </a:p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GB" dirty="0"/>
              <a:t>You have already seen MATLAB live scripts</a:t>
            </a:r>
          </a:p>
        </p:txBody>
      </p:sp>
    </p:spTree>
    <p:extLst>
      <p:ext uri="{BB962C8B-B14F-4D97-AF65-F5344CB8AC3E}">
        <p14:creationId xmlns:p14="http://schemas.microsoft.com/office/powerpoint/2010/main" val="676015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Creating a MATLAB script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C8DCF1E-E63A-7A5F-BA60-96777467EA9C}"/>
              </a:ext>
            </a:extLst>
          </p:cNvPr>
          <p:cNvSpPr txBox="1">
            <a:spLocks/>
          </p:cNvSpPr>
          <p:nvPr/>
        </p:nvSpPr>
        <p:spPr>
          <a:xfrm>
            <a:off x="535343" y="1753737"/>
            <a:ext cx="10474779" cy="116674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Create a new script via the toolbar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7C8860-DD2B-EBDA-2174-D43E14D8BA5F}"/>
              </a:ext>
            </a:extLst>
          </p:cNvPr>
          <p:cNvSpPr txBox="1">
            <a:spLocks/>
          </p:cNvSpPr>
          <p:nvPr/>
        </p:nvSpPr>
        <p:spPr>
          <a:xfrm>
            <a:off x="2443749" y="1101625"/>
            <a:ext cx="7886700" cy="46547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pic>
        <p:nvPicPr>
          <p:cNvPr id="4" name="Content Placeholder 7">
            <a:extLst>
              <a:ext uri="{FF2B5EF4-FFF2-40B4-BE49-F238E27FC236}">
                <a16:creationId xmlns:a16="http://schemas.microsoft.com/office/drawing/2014/main" id="{219106BB-DB86-F2EF-C242-C6B5ACA847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7805" y="3429000"/>
            <a:ext cx="7886700" cy="2036406"/>
          </a:xfrm>
          <a:prstGeom prst="rect">
            <a:avLst/>
          </a:prstGeom>
        </p:spPr>
      </p:pic>
      <p:sp>
        <p:nvSpPr>
          <p:cNvPr id="5" name="Frame 4">
            <a:extLst>
              <a:ext uri="{FF2B5EF4-FFF2-40B4-BE49-F238E27FC236}">
                <a16:creationId xmlns:a16="http://schemas.microsoft.com/office/drawing/2014/main" id="{7678F62B-72AD-396D-2F1D-978C705A7280}"/>
              </a:ext>
            </a:extLst>
          </p:cNvPr>
          <p:cNvSpPr/>
          <p:nvPr/>
        </p:nvSpPr>
        <p:spPr>
          <a:xfrm>
            <a:off x="2183932" y="3784477"/>
            <a:ext cx="430306" cy="645459"/>
          </a:xfrm>
          <a:prstGeom prst="fram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762CAD13-2997-EBA0-578B-9E84EEB43678}"/>
              </a:ext>
            </a:extLst>
          </p:cNvPr>
          <p:cNvSpPr/>
          <p:nvPr/>
        </p:nvSpPr>
        <p:spPr>
          <a:xfrm rot="19904712">
            <a:off x="1784690" y="2231342"/>
            <a:ext cx="253714" cy="158766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35689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Script layout</a:t>
            </a:r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3FD26B4-E03A-EC5D-87F8-7356588BFDA2}"/>
              </a:ext>
            </a:extLst>
          </p:cNvPr>
          <p:cNvGrpSpPr/>
          <p:nvPr/>
        </p:nvGrpSpPr>
        <p:grpSpPr>
          <a:xfrm>
            <a:off x="826673" y="5995582"/>
            <a:ext cx="9588667" cy="602165"/>
            <a:chOff x="826673" y="5995582"/>
            <a:chExt cx="9588667" cy="602165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D15001A-66F8-42B4-4F40-ED1A67DEFDD8}"/>
                </a:ext>
              </a:extLst>
            </p:cNvPr>
            <p:cNvSpPr txBox="1"/>
            <p:nvPr/>
          </p:nvSpPr>
          <p:spPr>
            <a:xfrm>
              <a:off x="826673" y="5997583"/>
              <a:ext cx="2915909" cy="6001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 algn="l">
                <a:spcAft>
                  <a:spcPts val="600"/>
                </a:spcAft>
                <a:buFont typeface="+mj-lt"/>
                <a:buAutoNum type="arabicPeriod"/>
              </a:pPr>
              <a:r>
                <a:rPr lang="en-US" sz="1400" b="0" i="0" dirty="0">
                  <a:solidFill>
                    <a:srgbClr val="C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Editor toolbar</a:t>
              </a:r>
            </a:p>
            <a:p>
              <a:pPr marL="342900" indent="-342900">
                <a:spcAft>
                  <a:spcPts val="600"/>
                </a:spcAft>
                <a:buFont typeface="+mj-lt"/>
                <a:buAutoNum type="arabicPeriod"/>
              </a:pPr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MATLAB code as a script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4E5CEAB-214E-DC9D-31A4-D4DEF0BE88EF}"/>
                </a:ext>
              </a:extLst>
            </p:cNvPr>
            <p:cNvSpPr txBox="1"/>
            <p:nvPr/>
          </p:nvSpPr>
          <p:spPr>
            <a:xfrm>
              <a:off x="3742582" y="5997583"/>
              <a:ext cx="2082550" cy="6001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spcAft>
                  <a:spcPts val="600"/>
                </a:spcAft>
                <a:buFont typeface="+mj-lt"/>
                <a:buAutoNum type="arabicPeriod" startAt="3"/>
              </a:pPr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Run button</a:t>
              </a:r>
            </a:p>
            <a:p>
              <a:pPr marL="342900" indent="-342900">
                <a:spcAft>
                  <a:spcPts val="600"/>
                </a:spcAft>
                <a:buFont typeface="+mj-lt"/>
                <a:buAutoNum type="arabicPeriod" startAt="3"/>
              </a:pPr>
              <a:r>
                <a:rPr lang="en-US" sz="1400" b="0" i="0" dirty="0"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Step button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30B9A33-5973-F78B-F308-2DADC1817CF5}"/>
                </a:ext>
              </a:extLst>
            </p:cNvPr>
            <p:cNvSpPr txBox="1"/>
            <p:nvPr/>
          </p:nvSpPr>
          <p:spPr>
            <a:xfrm>
              <a:off x="5917023" y="5995582"/>
              <a:ext cx="2203213" cy="6001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spcAft>
                  <a:spcPts val="600"/>
                </a:spcAft>
                <a:buFont typeface="+mj-lt"/>
                <a:buAutoNum type="arabicPeriod" startAt="5"/>
              </a:pPr>
              <a:r>
                <a:rPr lang="en-US" sz="1400" b="0" i="0" dirty="0"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Save button</a:t>
              </a:r>
            </a:p>
            <a:p>
              <a:pPr marL="342900" indent="-342900">
                <a:spcAft>
                  <a:spcPts val="600"/>
                </a:spcAft>
                <a:buFont typeface="+mj-lt"/>
                <a:buAutoNum type="arabicPeriod" startAt="5"/>
              </a:pPr>
              <a:r>
                <a:rPr lang="en-US" sz="1400" b="0" i="0" dirty="0"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Open button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4B02333-2413-79BF-6A5A-BA2F17338F62}"/>
                </a:ext>
              </a:extLst>
            </p:cNvPr>
            <p:cNvSpPr txBox="1"/>
            <p:nvPr/>
          </p:nvSpPr>
          <p:spPr>
            <a:xfrm>
              <a:off x="8212127" y="5997583"/>
              <a:ext cx="2203213" cy="6001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spcAft>
                  <a:spcPts val="600"/>
                </a:spcAft>
                <a:buFont typeface="+mj-lt"/>
                <a:buAutoNum type="arabicPeriod" startAt="7"/>
              </a:pPr>
              <a:r>
                <a:rPr lang="en-US" sz="1400" b="0" i="0" dirty="0"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Break points</a:t>
              </a:r>
            </a:p>
            <a:p>
              <a:pPr marL="342900" indent="-342900">
                <a:spcAft>
                  <a:spcPts val="600"/>
                </a:spcAft>
                <a:buFont typeface="+mj-lt"/>
                <a:buAutoNum type="arabicPeriod" startAt="7"/>
              </a:pPr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Saved script</a:t>
              </a:r>
              <a:endParaRPr lang="en-US" sz="1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1D247D72-15A3-6498-42BB-6D448A4D9B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673" y="1572561"/>
            <a:ext cx="9125033" cy="3712878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11203CD3-E4A9-94AC-A05A-F39082E4F6CA}"/>
              </a:ext>
            </a:extLst>
          </p:cNvPr>
          <p:cNvSpPr/>
          <p:nvPr/>
        </p:nvSpPr>
        <p:spPr>
          <a:xfrm>
            <a:off x="817190" y="2132678"/>
            <a:ext cx="9125032" cy="949658"/>
          </a:xfrm>
          <a:prstGeom prst="rect">
            <a:avLst/>
          </a:prstGeom>
          <a:solidFill>
            <a:srgbClr val="FF0000">
              <a:alpha val="10000"/>
            </a:srgbClr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868DEE7-1351-BBA0-17F3-39B71D290DE1}"/>
              </a:ext>
            </a:extLst>
          </p:cNvPr>
          <p:cNvSpPr/>
          <p:nvPr/>
        </p:nvSpPr>
        <p:spPr>
          <a:xfrm>
            <a:off x="3621803" y="1848350"/>
            <a:ext cx="982641" cy="365125"/>
          </a:xfrm>
          <a:prstGeom prst="rect">
            <a:avLst/>
          </a:prstGeom>
          <a:solidFill>
            <a:srgbClr val="FF0000">
              <a:alpha val="10000"/>
            </a:srgbClr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49438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Script layout</a:t>
            </a:r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7D4A0D0-6C0D-4A06-1FF0-80B851AED8B9}"/>
              </a:ext>
            </a:extLst>
          </p:cNvPr>
          <p:cNvGrpSpPr/>
          <p:nvPr/>
        </p:nvGrpSpPr>
        <p:grpSpPr>
          <a:xfrm>
            <a:off x="830571" y="1572561"/>
            <a:ext cx="9125033" cy="3712878"/>
            <a:chOff x="1091834" y="1422400"/>
            <a:chExt cx="9125033" cy="3712878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80CD93C0-A63A-C8DD-6158-63B8C6DC03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91834" y="1422400"/>
              <a:ext cx="9125033" cy="3712878"/>
            </a:xfrm>
            <a:prstGeom prst="rect">
              <a:avLst/>
            </a:prstGeom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006DE18-2ECE-26B9-B049-6B82916F87B0}"/>
                </a:ext>
              </a:extLst>
            </p:cNvPr>
            <p:cNvSpPr/>
            <p:nvPr/>
          </p:nvSpPr>
          <p:spPr>
            <a:xfrm>
              <a:off x="7339849" y="3558174"/>
              <a:ext cx="2877017" cy="1577104"/>
            </a:xfrm>
            <a:prstGeom prst="rect">
              <a:avLst/>
            </a:prstGeom>
            <a:solidFill>
              <a:srgbClr val="FF0000">
                <a:alpha val="10000"/>
              </a:srgbClr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13FD26B4-E03A-EC5D-87F8-7356588BFDA2}"/>
              </a:ext>
            </a:extLst>
          </p:cNvPr>
          <p:cNvGrpSpPr/>
          <p:nvPr/>
        </p:nvGrpSpPr>
        <p:grpSpPr>
          <a:xfrm>
            <a:off x="826673" y="5995582"/>
            <a:ext cx="9588667" cy="602165"/>
            <a:chOff x="826673" y="5995582"/>
            <a:chExt cx="9588667" cy="602165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D15001A-66F8-42B4-4F40-ED1A67DEFDD8}"/>
                </a:ext>
              </a:extLst>
            </p:cNvPr>
            <p:cNvSpPr txBox="1"/>
            <p:nvPr/>
          </p:nvSpPr>
          <p:spPr>
            <a:xfrm>
              <a:off x="826673" y="5997583"/>
              <a:ext cx="2915909" cy="6001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 algn="l">
                <a:spcAft>
                  <a:spcPts val="600"/>
                </a:spcAft>
                <a:buFont typeface="+mj-lt"/>
                <a:buAutoNum type="arabicPeriod"/>
              </a:pPr>
              <a:r>
                <a:rPr lang="en-US" sz="1400" b="0" i="0" dirty="0"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Editor toolbar</a:t>
              </a:r>
            </a:p>
            <a:p>
              <a:pPr marL="342900" indent="-342900">
                <a:spcAft>
                  <a:spcPts val="600"/>
                </a:spcAft>
                <a:buFont typeface="+mj-lt"/>
                <a:buAutoNum type="arabicPeriod"/>
              </a:pPr>
              <a:r>
                <a:rPr lang="en-US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MATLAB code as a script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4E5CEAB-214E-DC9D-31A4-D4DEF0BE88EF}"/>
                </a:ext>
              </a:extLst>
            </p:cNvPr>
            <p:cNvSpPr txBox="1"/>
            <p:nvPr/>
          </p:nvSpPr>
          <p:spPr>
            <a:xfrm>
              <a:off x="3742582" y="5997583"/>
              <a:ext cx="2082550" cy="6001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spcAft>
                  <a:spcPts val="600"/>
                </a:spcAft>
                <a:buFont typeface="+mj-lt"/>
                <a:buAutoNum type="arabicPeriod" startAt="3"/>
              </a:pPr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Run button</a:t>
              </a:r>
            </a:p>
            <a:p>
              <a:pPr marL="342900" indent="-342900">
                <a:spcAft>
                  <a:spcPts val="600"/>
                </a:spcAft>
                <a:buFont typeface="+mj-lt"/>
                <a:buAutoNum type="arabicPeriod" startAt="3"/>
              </a:pPr>
              <a:r>
                <a:rPr lang="en-US" sz="1400" b="0" i="0" dirty="0"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Step button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30B9A33-5973-F78B-F308-2DADC1817CF5}"/>
                </a:ext>
              </a:extLst>
            </p:cNvPr>
            <p:cNvSpPr txBox="1"/>
            <p:nvPr/>
          </p:nvSpPr>
          <p:spPr>
            <a:xfrm>
              <a:off x="5917023" y="5995582"/>
              <a:ext cx="2203213" cy="6001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spcAft>
                  <a:spcPts val="600"/>
                </a:spcAft>
                <a:buFont typeface="+mj-lt"/>
                <a:buAutoNum type="arabicPeriod" startAt="5"/>
              </a:pPr>
              <a:r>
                <a:rPr lang="en-US" sz="1400" b="0" i="0" dirty="0"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Save button</a:t>
              </a:r>
            </a:p>
            <a:p>
              <a:pPr marL="342900" indent="-342900">
                <a:spcAft>
                  <a:spcPts val="600"/>
                </a:spcAft>
                <a:buFont typeface="+mj-lt"/>
                <a:buAutoNum type="arabicPeriod" startAt="5"/>
              </a:pPr>
              <a:r>
                <a:rPr lang="en-US" sz="1400" b="0" i="0" dirty="0"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Open button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4B02333-2413-79BF-6A5A-BA2F17338F62}"/>
                </a:ext>
              </a:extLst>
            </p:cNvPr>
            <p:cNvSpPr txBox="1"/>
            <p:nvPr/>
          </p:nvSpPr>
          <p:spPr>
            <a:xfrm>
              <a:off x="8212127" y="5997583"/>
              <a:ext cx="2203213" cy="6001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spcAft>
                  <a:spcPts val="600"/>
                </a:spcAft>
                <a:buFont typeface="+mj-lt"/>
                <a:buAutoNum type="arabicPeriod" startAt="7"/>
              </a:pPr>
              <a:r>
                <a:rPr lang="en-US" sz="1400" b="0" i="0" dirty="0"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Break points</a:t>
              </a:r>
            </a:p>
            <a:p>
              <a:pPr marL="342900" indent="-342900">
                <a:spcAft>
                  <a:spcPts val="600"/>
                </a:spcAft>
                <a:buFont typeface="+mj-lt"/>
                <a:buAutoNum type="arabicPeriod" startAt="7"/>
              </a:pPr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Saved script</a:t>
              </a:r>
              <a:endParaRPr lang="en-US" sz="1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373824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Script layout</a:t>
            </a:r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0DDA4BA-C8C3-CDFF-C656-BF5E169CB789}"/>
              </a:ext>
            </a:extLst>
          </p:cNvPr>
          <p:cNvGrpSpPr/>
          <p:nvPr/>
        </p:nvGrpSpPr>
        <p:grpSpPr>
          <a:xfrm>
            <a:off x="830571" y="1572561"/>
            <a:ext cx="9125033" cy="3712878"/>
            <a:chOff x="830571" y="1572561"/>
            <a:chExt cx="9125033" cy="3712878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6A6B3C72-2E3B-AC35-39E2-5346F37237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0571" y="1572561"/>
              <a:ext cx="9125033" cy="3712878"/>
            </a:xfrm>
            <a:prstGeom prst="rect">
              <a:avLst/>
            </a:prstGeom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86DAFAE-FB54-BD74-E2E9-30F202D8BB53}"/>
                </a:ext>
              </a:extLst>
            </p:cNvPr>
            <p:cNvSpPr/>
            <p:nvPr/>
          </p:nvSpPr>
          <p:spPr>
            <a:xfrm>
              <a:off x="8469863" y="2170357"/>
              <a:ext cx="457200" cy="745600"/>
            </a:xfrm>
            <a:prstGeom prst="rect">
              <a:avLst/>
            </a:prstGeom>
            <a:solidFill>
              <a:srgbClr val="FF0000">
                <a:alpha val="10000"/>
              </a:srgbClr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AFB1CA37-73D2-C282-152C-BA6064B8759A}"/>
              </a:ext>
            </a:extLst>
          </p:cNvPr>
          <p:cNvGrpSpPr/>
          <p:nvPr/>
        </p:nvGrpSpPr>
        <p:grpSpPr>
          <a:xfrm>
            <a:off x="826673" y="5995582"/>
            <a:ext cx="9588667" cy="602165"/>
            <a:chOff x="826673" y="5995582"/>
            <a:chExt cx="9588667" cy="602165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0859711-9617-E67D-F8EA-5C5F2C2A7F28}"/>
                </a:ext>
              </a:extLst>
            </p:cNvPr>
            <p:cNvSpPr txBox="1"/>
            <p:nvPr/>
          </p:nvSpPr>
          <p:spPr>
            <a:xfrm>
              <a:off x="826673" y="5997583"/>
              <a:ext cx="2915909" cy="6001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 algn="l">
                <a:spcAft>
                  <a:spcPts val="600"/>
                </a:spcAft>
                <a:buFont typeface="+mj-lt"/>
                <a:buAutoNum type="arabicPeriod"/>
              </a:pPr>
              <a:r>
                <a:rPr lang="en-US" sz="1400" b="0" i="0" dirty="0"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Editor toolbar</a:t>
              </a:r>
            </a:p>
            <a:p>
              <a:pPr marL="342900" indent="-342900">
                <a:spcAft>
                  <a:spcPts val="600"/>
                </a:spcAft>
                <a:buFont typeface="+mj-lt"/>
                <a:buAutoNum type="arabicPeriod"/>
              </a:pPr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MATLAB code as a script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12A3B85-1E66-331E-2AD0-FBCB3CB34636}"/>
                </a:ext>
              </a:extLst>
            </p:cNvPr>
            <p:cNvSpPr txBox="1"/>
            <p:nvPr/>
          </p:nvSpPr>
          <p:spPr>
            <a:xfrm>
              <a:off x="3742582" y="5997583"/>
              <a:ext cx="2082550" cy="6001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spcAft>
                  <a:spcPts val="600"/>
                </a:spcAft>
                <a:buFont typeface="+mj-lt"/>
                <a:buAutoNum type="arabicPeriod" startAt="3"/>
              </a:pPr>
              <a:r>
                <a:rPr lang="en-US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Run button</a:t>
              </a:r>
            </a:p>
            <a:p>
              <a:pPr marL="342900" indent="-342900">
                <a:spcAft>
                  <a:spcPts val="600"/>
                </a:spcAft>
                <a:buFont typeface="+mj-lt"/>
                <a:buAutoNum type="arabicPeriod" startAt="3"/>
              </a:pPr>
              <a:r>
                <a:rPr lang="en-US" sz="1400" b="0" i="0" dirty="0"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Step button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B2DBE5D-AA0D-7A19-093D-34E8A853EA77}"/>
                </a:ext>
              </a:extLst>
            </p:cNvPr>
            <p:cNvSpPr txBox="1"/>
            <p:nvPr/>
          </p:nvSpPr>
          <p:spPr>
            <a:xfrm>
              <a:off x="5917023" y="5995582"/>
              <a:ext cx="2203213" cy="6001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spcAft>
                  <a:spcPts val="600"/>
                </a:spcAft>
                <a:buFont typeface="+mj-lt"/>
                <a:buAutoNum type="arabicPeriod" startAt="5"/>
              </a:pPr>
              <a:r>
                <a:rPr lang="en-US" sz="1400" b="0" i="0" dirty="0"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Save button</a:t>
              </a:r>
            </a:p>
            <a:p>
              <a:pPr marL="342900" indent="-342900">
                <a:spcAft>
                  <a:spcPts val="600"/>
                </a:spcAft>
                <a:buFont typeface="+mj-lt"/>
                <a:buAutoNum type="arabicPeriod" startAt="5"/>
              </a:pPr>
              <a:r>
                <a:rPr lang="en-US" sz="1400" b="0" i="0" dirty="0"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Open button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45DE63E-4441-2464-8BFF-9524B3DD1D7C}"/>
                </a:ext>
              </a:extLst>
            </p:cNvPr>
            <p:cNvSpPr txBox="1"/>
            <p:nvPr/>
          </p:nvSpPr>
          <p:spPr>
            <a:xfrm>
              <a:off x="8212127" y="5997583"/>
              <a:ext cx="2203213" cy="6001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spcAft>
                  <a:spcPts val="600"/>
                </a:spcAft>
                <a:buFont typeface="+mj-lt"/>
                <a:buAutoNum type="arabicPeriod" startAt="7"/>
              </a:pPr>
              <a:r>
                <a:rPr lang="en-US" sz="1400" b="0" i="0" dirty="0"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Break points</a:t>
              </a:r>
            </a:p>
            <a:p>
              <a:pPr marL="342900" indent="-342900">
                <a:spcAft>
                  <a:spcPts val="600"/>
                </a:spcAft>
                <a:buFont typeface="+mj-lt"/>
                <a:buAutoNum type="arabicPeriod" startAt="7"/>
              </a:pPr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Saved script</a:t>
              </a:r>
              <a:endParaRPr lang="en-US" sz="1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043178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Script layout</a:t>
            </a:r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C245D8C-A313-07D8-6D4E-D56B4DE587ED}"/>
              </a:ext>
            </a:extLst>
          </p:cNvPr>
          <p:cNvGrpSpPr/>
          <p:nvPr/>
        </p:nvGrpSpPr>
        <p:grpSpPr>
          <a:xfrm>
            <a:off x="826673" y="5995582"/>
            <a:ext cx="9588667" cy="602165"/>
            <a:chOff x="826673" y="5995582"/>
            <a:chExt cx="9588667" cy="602165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47AA405-0073-EF8A-BCDB-8552EE1032A2}"/>
                </a:ext>
              </a:extLst>
            </p:cNvPr>
            <p:cNvSpPr txBox="1"/>
            <p:nvPr/>
          </p:nvSpPr>
          <p:spPr>
            <a:xfrm>
              <a:off x="826673" y="5997583"/>
              <a:ext cx="2915909" cy="6001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 algn="l">
                <a:spcAft>
                  <a:spcPts val="600"/>
                </a:spcAft>
                <a:buFont typeface="+mj-lt"/>
                <a:buAutoNum type="arabicPeriod"/>
              </a:pPr>
              <a:r>
                <a:rPr lang="en-US" sz="1400" b="0" i="0" dirty="0"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Editor toolbar</a:t>
              </a:r>
            </a:p>
            <a:p>
              <a:pPr marL="342900" indent="-342900">
                <a:spcAft>
                  <a:spcPts val="600"/>
                </a:spcAft>
                <a:buFont typeface="+mj-lt"/>
                <a:buAutoNum type="arabicPeriod"/>
              </a:pPr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MATLAB code as a script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CBB9772-4A78-EB57-6658-7EFDB253E444}"/>
                </a:ext>
              </a:extLst>
            </p:cNvPr>
            <p:cNvSpPr txBox="1"/>
            <p:nvPr/>
          </p:nvSpPr>
          <p:spPr>
            <a:xfrm>
              <a:off x="3742582" y="5997583"/>
              <a:ext cx="2082550" cy="6001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spcAft>
                  <a:spcPts val="600"/>
                </a:spcAft>
                <a:buFont typeface="+mj-lt"/>
                <a:buAutoNum type="arabicPeriod" startAt="3"/>
              </a:pPr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Run button</a:t>
              </a:r>
            </a:p>
            <a:p>
              <a:pPr marL="342900" indent="-342900">
                <a:spcAft>
                  <a:spcPts val="600"/>
                </a:spcAft>
                <a:buFont typeface="+mj-lt"/>
                <a:buAutoNum type="arabicPeriod" startAt="3"/>
              </a:pPr>
              <a:r>
                <a:rPr lang="en-US" sz="1400" b="0" i="0" dirty="0">
                  <a:solidFill>
                    <a:srgbClr val="C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Step button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A19F610-C3AA-8847-F213-13F71996EB6C}"/>
                </a:ext>
              </a:extLst>
            </p:cNvPr>
            <p:cNvSpPr txBox="1"/>
            <p:nvPr/>
          </p:nvSpPr>
          <p:spPr>
            <a:xfrm>
              <a:off x="5917023" y="5995582"/>
              <a:ext cx="2203213" cy="6001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spcAft>
                  <a:spcPts val="600"/>
                </a:spcAft>
                <a:buFont typeface="+mj-lt"/>
                <a:buAutoNum type="arabicPeriod" startAt="5"/>
              </a:pPr>
              <a:r>
                <a:rPr lang="en-US" sz="1400" b="0" i="0" dirty="0"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Save button</a:t>
              </a:r>
            </a:p>
            <a:p>
              <a:pPr marL="342900" indent="-342900">
                <a:spcAft>
                  <a:spcPts val="600"/>
                </a:spcAft>
                <a:buFont typeface="+mj-lt"/>
                <a:buAutoNum type="arabicPeriod" startAt="5"/>
              </a:pPr>
              <a:r>
                <a:rPr lang="en-US" sz="1400" b="0" i="0" dirty="0"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Open button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3BBE3E3-C584-29A7-7F8A-7C4D457E3088}"/>
                </a:ext>
              </a:extLst>
            </p:cNvPr>
            <p:cNvSpPr txBox="1"/>
            <p:nvPr/>
          </p:nvSpPr>
          <p:spPr>
            <a:xfrm>
              <a:off x="8212127" y="5997583"/>
              <a:ext cx="2203213" cy="6001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spcAft>
                  <a:spcPts val="600"/>
                </a:spcAft>
                <a:buFont typeface="+mj-lt"/>
                <a:buAutoNum type="arabicPeriod" startAt="7"/>
              </a:pPr>
              <a:r>
                <a:rPr lang="en-US" sz="1400" b="0" i="0" dirty="0"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Break points</a:t>
              </a:r>
            </a:p>
            <a:p>
              <a:pPr marL="342900" indent="-342900">
                <a:spcAft>
                  <a:spcPts val="600"/>
                </a:spcAft>
                <a:buFont typeface="+mj-lt"/>
                <a:buAutoNum type="arabicPeriod" startAt="7"/>
              </a:pPr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Saved script</a:t>
              </a:r>
              <a:endParaRPr lang="en-US" sz="1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327E847B-7782-388B-03C9-B387794C63EF}"/>
              </a:ext>
            </a:extLst>
          </p:cNvPr>
          <p:cNvGrpSpPr/>
          <p:nvPr/>
        </p:nvGrpSpPr>
        <p:grpSpPr>
          <a:xfrm>
            <a:off x="830571" y="1572561"/>
            <a:ext cx="9125033" cy="3712878"/>
            <a:chOff x="830571" y="1572561"/>
            <a:chExt cx="9125033" cy="3712878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625E32D-0D11-D608-B5D8-B3F2D7519A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0571" y="1572561"/>
              <a:ext cx="9125033" cy="3712878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2F10F0F-BB94-CCC0-A810-DD7859749D96}"/>
                </a:ext>
              </a:extLst>
            </p:cNvPr>
            <p:cNvSpPr/>
            <p:nvPr/>
          </p:nvSpPr>
          <p:spPr>
            <a:xfrm>
              <a:off x="8973716" y="2171868"/>
              <a:ext cx="457200" cy="745600"/>
            </a:xfrm>
            <a:prstGeom prst="rect">
              <a:avLst/>
            </a:prstGeom>
            <a:solidFill>
              <a:srgbClr val="FF0000">
                <a:alpha val="10000"/>
              </a:srgbClr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5358363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Script layout</a:t>
            </a:r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8990A02-45F6-A427-CF57-EC84FFD8AF6D}"/>
              </a:ext>
            </a:extLst>
          </p:cNvPr>
          <p:cNvGrpSpPr/>
          <p:nvPr/>
        </p:nvGrpSpPr>
        <p:grpSpPr>
          <a:xfrm>
            <a:off x="830571" y="1572561"/>
            <a:ext cx="9125033" cy="3712878"/>
            <a:chOff x="830571" y="1572561"/>
            <a:chExt cx="9125033" cy="371287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589B918D-0EAA-AF91-9010-696AE3F1D7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0571" y="1572561"/>
              <a:ext cx="9125033" cy="3712878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0F7057C-061C-5B5E-AF7A-615123B10FCC}"/>
                </a:ext>
              </a:extLst>
            </p:cNvPr>
            <p:cNvSpPr/>
            <p:nvPr/>
          </p:nvSpPr>
          <p:spPr>
            <a:xfrm>
              <a:off x="1621194" y="2171868"/>
              <a:ext cx="457200" cy="711291"/>
            </a:xfrm>
            <a:prstGeom prst="rect">
              <a:avLst/>
            </a:prstGeom>
            <a:solidFill>
              <a:srgbClr val="FF0000">
                <a:alpha val="10000"/>
              </a:srgbClr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D378146C-B8CC-B72C-154B-61C5F096E334}"/>
              </a:ext>
            </a:extLst>
          </p:cNvPr>
          <p:cNvGrpSpPr/>
          <p:nvPr/>
        </p:nvGrpSpPr>
        <p:grpSpPr>
          <a:xfrm>
            <a:off x="826673" y="5995582"/>
            <a:ext cx="9588667" cy="602165"/>
            <a:chOff x="826673" y="5995582"/>
            <a:chExt cx="9588667" cy="60216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EDC1F72-E713-A6BF-4DBC-3C716396358A}"/>
                </a:ext>
              </a:extLst>
            </p:cNvPr>
            <p:cNvSpPr txBox="1"/>
            <p:nvPr/>
          </p:nvSpPr>
          <p:spPr>
            <a:xfrm>
              <a:off x="826673" y="5997583"/>
              <a:ext cx="2915909" cy="6001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 algn="l">
                <a:spcAft>
                  <a:spcPts val="600"/>
                </a:spcAft>
                <a:buFont typeface="+mj-lt"/>
                <a:buAutoNum type="arabicPeriod"/>
              </a:pPr>
              <a:r>
                <a:rPr lang="en-US" sz="1400" b="0" i="0" dirty="0"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Editor toolbar</a:t>
              </a:r>
            </a:p>
            <a:p>
              <a:pPr marL="342900" indent="-342900">
                <a:spcAft>
                  <a:spcPts val="600"/>
                </a:spcAft>
                <a:buFont typeface="+mj-lt"/>
                <a:buAutoNum type="arabicPeriod"/>
              </a:pPr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MATLAB code as a script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0558F90-5C12-1798-A942-FAFA406A272E}"/>
                </a:ext>
              </a:extLst>
            </p:cNvPr>
            <p:cNvSpPr txBox="1"/>
            <p:nvPr/>
          </p:nvSpPr>
          <p:spPr>
            <a:xfrm>
              <a:off x="3742582" y="5997583"/>
              <a:ext cx="2082550" cy="6001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spcAft>
                  <a:spcPts val="600"/>
                </a:spcAft>
                <a:buFont typeface="+mj-lt"/>
                <a:buAutoNum type="arabicPeriod" startAt="3"/>
              </a:pPr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Run button</a:t>
              </a:r>
            </a:p>
            <a:p>
              <a:pPr marL="342900" indent="-342900">
                <a:spcAft>
                  <a:spcPts val="600"/>
                </a:spcAft>
                <a:buFont typeface="+mj-lt"/>
                <a:buAutoNum type="arabicPeriod" startAt="3"/>
              </a:pPr>
              <a:r>
                <a:rPr lang="en-US" sz="1400" b="0" i="0" dirty="0"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Step button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11F74B2-6FFA-9671-9E1F-54EAB1458DF3}"/>
                </a:ext>
              </a:extLst>
            </p:cNvPr>
            <p:cNvSpPr txBox="1"/>
            <p:nvPr/>
          </p:nvSpPr>
          <p:spPr>
            <a:xfrm>
              <a:off x="5917023" y="5995582"/>
              <a:ext cx="2203213" cy="6001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spcAft>
                  <a:spcPts val="600"/>
                </a:spcAft>
                <a:buFont typeface="+mj-lt"/>
                <a:buAutoNum type="arabicPeriod" startAt="5"/>
              </a:pPr>
              <a:r>
                <a:rPr lang="en-US" sz="1400" b="0" i="0" dirty="0">
                  <a:solidFill>
                    <a:srgbClr val="C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Save button</a:t>
              </a:r>
            </a:p>
            <a:p>
              <a:pPr marL="342900" indent="-342900">
                <a:spcAft>
                  <a:spcPts val="600"/>
                </a:spcAft>
                <a:buFont typeface="+mj-lt"/>
                <a:buAutoNum type="arabicPeriod" startAt="5"/>
              </a:pPr>
              <a:r>
                <a:rPr lang="en-US" sz="1400" b="0" i="0" dirty="0"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Open button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FEB76D8-C43A-4E26-7341-1A8776EC134B}"/>
                </a:ext>
              </a:extLst>
            </p:cNvPr>
            <p:cNvSpPr txBox="1"/>
            <p:nvPr/>
          </p:nvSpPr>
          <p:spPr>
            <a:xfrm>
              <a:off x="8212127" y="5997583"/>
              <a:ext cx="2203213" cy="6001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spcAft>
                  <a:spcPts val="600"/>
                </a:spcAft>
                <a:buFont typeface="+mj-lt"/>
                <a:buAutoNum type="arabicPeriod" startAt="7"/>
              </a:pPr>
              <a:r>
                <a:rPr lang="en-US" sz="1400" b="0" i="0" dirty="0"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Break points</a:t>
              </a:r>
            </a:p>
            <a:p>
              <a:pPr marL="342900" indent="-342900">
                <a:spcAft>
                  <a:spcPts val="600"/>
                </a:spcAft>
                <a:buFont typeface="+mj-lt"/>
                <a:buAutoNum type="arabicPeriod" startAt="7"/>
              </a:pPr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Saved script</a:t>
              </a:r>
              <a:endParaRPr lang="en-US" sz="1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886853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Script layout</a:t>
            </a:r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8990A02-45F6-A427-CF57-EC84FFD8AF6D}"/>
              </a:ext>
            </a:extLst>
          </p:cNvPr>
          <p:cNvGrpSpPr/>
          <p:nvPr/>
        </p:nvGrpSpPr>
        <p:grpSpPr>
          <a:xfrm>
            <a:off x="830571" y="1572561"/>
            <a:ext cx="9125033" cy="3712878"/>
            <a:chOff x="830571" y="1572561"/>
            <a:chExt cx="9125033" cy="371287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589B918D-0EAA-AF91-9010-696AE3F1D7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0571" y="1572561"/>
              <a:ext cx="9125033" cy="3712878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0F7057C-061C-5B5E-AF7A-615123B10FCC}"/>
                </a:ext>
              </a:extLst>
            </p:cNvPr>
            <p:cNvSpPr/>
            <p:nvPr/>
          </p:nvSpPr>
          <p:spPr>
            <a:xfrm>
              <a:off x="1219977" y="2171868"/>
              <a:ext cx="457200" cy="711291"/>
            </a:xfrm>
            <a:prstGeom prst="rect">
              <a:avLst/>
            </a:prstGeom>
            <a:solidFill>
              <a:srgbClr val="FF0000">
                <a:alpha val="10000"/>
              </a:srgbClr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D378146C-B8CC-B72C-154B-61C5F096E334}"/>
              </a:ext>
            </a:extLst>
          </p:cNvPr>
          <p:cNvGrpSpPr/>
          <p:nvPr/>
        </p:nvGrpSpPr>
        <p:grpSpPr>
          <a:xfrm>
            <a:off x="826673" y="5995582"/>
            <a:ext cx="9588667" cy="602165"/>
            <a:chOff x="826673" y="5995582"/>
            <a:chExt cx="9588667" cy="60216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EDC1F72-E713-A6BF-4DBC-3C716396358A}"/>
                </a:ext>
              </a:extLst>
            </p:cNvPr>
            <p:cNvSpPr txBox="1"/>
            <p:nvPr/>
          </p:nvSpPr>
          <p:spPr>
            <a:xfrm>
              <a:off x="826673" y="5997583"/>
              <a:ext cx="2915909" cy="6001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 algn="l">
                <a:spcAft>
                  <a:spcPts val="600"/>
                </a:spcAft>
                <a:buFont typeface="+mj-lt"/>
                <a:buAutoNum type="arabicPeriod"/>
              </a:pPr>
              <a:r>
                <a:rPr lang="en-US" sz="1400" b="0" i="0" dirty="0"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Editor toolbar</a:t>
              </a:r>
            </a:p>
            <a:p>
              <a:pPr marL="342900" indent="-342900">
                <a:spcAft>
                  <a:spcPts val="600"/>
                </a:spcAft>
                <a:buFont typeface="+mj-lt"/>
                <a:buAutoNum type="arabicPeriod"/>
              </a:pPr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MATLAB code as a script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0558F90-5C12-1798-A942-FAFA406A272E}"/>
                </a:ext>
              </a:extLst>
            </p:cNvPr>
            <p:cNvSpPr txBox="1"/>
            <p:nvPr/>
          </p:nvSpPr>
          <p:spPr>
            <a:xfrm>
              <a:off x="3742582" y="5997583"/>
              <a:ext cx="2082550" cy="6001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spcAft>
                  <a:spcPts val="600"/>
                </a:spcAft>
                <a:buFont typeface="+mj-lt"/>
                <a:buAutoNum type="arabicPeriod" startAt="3"/>
              </a:pPr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Run button</a:t>
              </a:r>
            </a:p>
            <a:p>
              <a:pPr marL="342900" indent="-342900">
                <a:spcAft>
                  <a:spcPts val="600"/>
                </a:spcAft>
                <a:buFont typeface="+mj-lt"/>
                <a:buAutoNum type="arabicPeriod" startAt="3"/>
              </a:pPr>
              <a:r>
                <a:rPr lang="en-US" sz="1400" b="0" i="0" dirty="0"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Step button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11F74B2-6FFA-9671-9E1F-54EAB1458DF3}"/>
                </a:ext>
              </a:extLst>
            </p:cNvPr>
            <p:cNvSpPr txBox="1"/>
            <p:nvPr/>
          </p:nvSpPr>
          <p:spPr>
            <a:xfrm>
              <a:off x="5917023" y="5995582"/>
              <a:ext cx="2203213" cy="6001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spcAft>
                  <a:spcPts val="600"/>
                </a:spcAft>
                <a:buFont typeface="+mj-lt"/>
                <a:buAutoNum type="arabicPeriod" startAt="5"/>
              </a:pPr>
              <a:r>
                <a:rPr lang="en-US" sz="1400" b="0" i="0" dirty="0"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Save button</a:t>
              </a:r>
            </a:p>
            <a:p>
              <a:pPr marL="342900" indent="-342900">
                <a:spcAft>
                  <a:spcPts val="600"/>
                </a:spcAft>
                <a:buFont typeface="+mj-lt"/>
                <a:buAutoNum type="arabicPeriod" startAt="5"/>
              </a:pPr>
              <a:r>
                <a:rPr lang="en-US" sz="1400" b="0" i="0" dirty="0">
                  <a:solidFill>
                    <a:srgbClr val="C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Open button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FEB76D8-C43A-4E26-7341-1A8776EC134B}"/>
                </a:ext>
              </a:extLst>
            </p:cNvPr>
            <p:cNvSpPr txBox="1"/>
            <p:nvPr/>
          </p:nvSpPr>
          <p:spPr>
            <a:xfrm>
              <a:off x="8212127" y="5997583"/>
              <a:ext cx="2203213" cy="6001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spcAft>
                  <a:spcPts val="600"/>
                </a:spcAft>
                <a:buFont typeface="+mj-lt"/>
                <a:buAutoNum type="arabicPeriod" startAt="7"/>
              </a:pPr>
              <a:r>
                <a:rPr lang="en-US" sz="1400" b="0" i="0" dirty="0"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Break points</a:t>
              </a:r>
            </a:p>
            <a:p>
              <a:pPr marL="342900" indent="-342900">
                <a:spcAft>
                  <a:spcPts val="600"/>
                </a:spcAft>
                <a:buFont typeface="+mj-lt"/>
                <a:buAutoNum type="arabicPeriod" startAt="7"/>
              </a:pPr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Saved script</a:t>
              </a:r>
              <a:endParaRPr lang="en-US" sz="1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299196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Script layout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9B918D-0EAA-AF91-9010-696AE3F1D7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673" y="1572561"/>
            <a:ext cx="9125033" cy="3712878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D378146C-B8CC-B72C-154B-61C5F096E334}"/>
              </a:ext>
            </a:extLst>
          </p:cNvPr>
          <p:cNvGrpSpPr/>
          <p:nvPr/>
        </p:nvGrpSpPr>
        <p:grpSpPr>
          <a:xfrm>
            <a:off x="826673" y="5995582"/>
            <a:ext cx="9588667" cy="602165"/>
            <a:chOff x="826673" y="5995582"/>
            <a:chExt cx="9588667" cy="60216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EDC1F72-E713-A6BF-4DBC-3C716396358A}"/>
                </a:ext>
              </a:extLst>
            </p:cNvPr>
            <p:cNvSpPr txBox="1"/>
            <p:nvPr/>
          </p:nvSpPr>
          <p:spPr>
            <a:xfrm>
              <a:off x="826673" y="5997583"/>
              <a:ext cx="2915909" cy="6001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 algn="l">
                <a:spcAft>
                  <a:spcPts val="600"/>
                </a:spcAft>
                <a:buFont typeface="+mj-lt"/>
                <a:buAutoNum type="arabicPeriod"/>
              </a:pPr>
              <a:r>
                <a:rPr lang="en-US" sz="1400" b="0" i="0" dirty="0"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Editor toolbar</a:t>
              </a:r>
            </a:p>
            <a:p>
              <a:pPr marL="342900" indent="-342900">
                <a:spcAft>
                  <a:spcPts val="600"/>
                </a:spcAft>
                <a:buFont typeface="+mj-lt"/>
                <a:buAutoNum type="arabicPeriod"/>
              </a:pPr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MATLAB code as a script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0558F90-5C12-1798-A942-FAFA406A272E}"/>
                </a:ext>
              </a:extLst>
            </p:cNvPr>
            <p:cNvSpPr txBox="1"/>
            <p:nvPr/>
          </p:nvSpPr>
          <p:spPr>
            <a:xfrm>
              <a:off x="3742582" y="5997583"/>
              <a:ext cx="2082550" cy="6001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spcAft>
                  <a:spcPts val="600"/>
                </a:spcAft>
                <a:buFont typeface="+mj-lt"/>
                <a:buAutoNum type="arabicPeriod" startAt="3"/>
              </a:pPr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Run button</a:t>
              </a:r>
            </a:p>
            <a:p>
              <a:pPr marL="342900" indent="-342900">
                <a:spcAft>
                  <a:spcPts val="600"/>
                </a:spcAft>
                <a:buFont typeface="+mj-lt"/>
                <a:buAutoNum type="arabicPeriod" startAt="3"/>
              </a:pPr>
              <a:r>
                <a:rPr lang="en-US" sz="1400" b="0" i="0" dirty="0"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Step button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11F74B2-6FFA-9671-9E1F-54EAB1458DF3}"/>
                </a:ext>
              </a:extLst>
            </p:cNvPr>
            <p:cNvSpPr txBox="1"/>
            <p:nvPr/>
          </p:nvSpPr>
          <p:spPr>
            <a:xfrm>
              <a:off x="5917023" y="5995582"/>
              <a:ext cx="2203213" cy="6001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spcAft>
                  <a:spcPts val="600"/>
                </a:spcAft>
                <a:buFont typeface="+mj-lt"/>
                <a:buAutoNum type="arabicPeriod" startAt="5"/>
              </a:pPr>
              <a:r>
                <a:rPr lang="en-US" sz="1400" b="0" i="0" dirty="0"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Save button</a:t>
              </a:r>
            </a:p>
            <a:p>
              <a:pPr marL="342900" indent="-342900">
                <a:spcAft>
                  <a:spcPts val="600"/>
                </a:spcAft>
                <a:buFont typeface="+mj-lt"/>
                <a:buAutoNum type="arabicPeriod" startAt="5"/>
              </a:pPr>
              <a:r>
                <a:rPr lang="en-US" sz="1400" b="0" i="0" dirty="0"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Open button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FEB76D8-C43A-4E26-7341-1A8776EC134B}"/>
                </a:ext>
              </a:extLst>
            </p:cNvPr>
            <p:cNvSpPr txBox="1"/>
            <p:nvPr/>
          </p:nvSpPr>
          <p:spPr>
            <a:xfrm>
              <a:off x="8212127" y="5997583"/>
              <a:ext cx="2203213" cy="6001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spcAft>
                  <a:spcPts val="600"/>
                </a:spcAft>
                <a:buFont typeface="+mj-lt"/>
                <a:buAutoNum type="arabicPeriod" startAt="7"/>
              </a:pPr>
              <a:r>
                <a:rPr lang="en-US" sz="1400" b="0" i="0" dirty="0">
                  <a:solidFill>
                    <a:srgbClr val="C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Break points</a:t>
              </a:r>
            </a:p>
            <a:p>
              <a:pPr marL="342900" indent="-342900">
                <a:spcAft>
                  <a:spcPts val="600"/>
                </a:spcAft>
                <a:buFont typeface="+mj-lt"/>
                <a:buAutoNum type="arabicPeriod" startAt="7"/>
              </a:pPr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Saved script</a:t>
              </a:r>
              <a:endParaRPr lang="en-US" sz="1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1" name="Arrow: Down 10">
            <a:extLst>
              <a:ext uri="{FF2B5EF4-FFF2-40B4-BE49-F238E27FC236}">
                <a16:creationId xmlns:a16="http://schemas.microsoft.com/office/drawing/2014/main" id="{D65F77F8-5B6C-79F9-59AE-7B7C1CA06A08}"/>
              </a:ext>
            </a:extLst>
          </p:cNvPr>
          <p:cNvSpPr/>
          <p:nvPr/>
        </p:nvSpPr>
        <p:spPr>
          <a:xfrm rot="15943585">
            <a:off x="5825484" y="3836279"/>
            <a:ext cx="295050" cy="1007808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53B3275B-2638-05A3-D244-840B73ED0017}"/>
              </a:ext>
            </a:extLst>
          </p:cNvPr>
          <p:cNvSpPr/>
          <p:nvPr/>
        </p:nvSpPr>
        <p:spPr>
          <a:xfrm rot="15943585">
            <a:off x="5812233" y="4193231"/>
            <a:ext cx="295050" cy="1007808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57124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Script layout</a:t>
            </a:r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8990A02-45F6-A427-CF57-EC84FFD8AF6D}"/>
              </a:ext>
            </a:extLst>
          </p:cNvPr>
          <p:cNvGrpSpPr/>
          <p:nvPr/>
        </p:nvGrpSpPr>
        <p:grpSpPr>
          <a:xfrm>
            <a:off x="830571" y="1572561"/>
            <a:ext cx="9125033" cy="3712878"/>
            <a:chOff x="830571" y="1572561"/>
            <a:chExt cx="9125033" cy="371287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589B918D-0EAA-AF91-9010-696AE3F1D7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0571" y="1572561"/>
              <a:ext cx="9125033" cy="3712878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0F7057C-061C-5B5E-AF7A-615123B10FCC}"/>
                </a:ext>
              </a:extLst>
            </p:cNvPr>
            <p:cNvSpPr/>
            <p:nvPr/>
          </p:nvSpPr>
          <p:spPr>
            <a:xfrm>
              <a:off x="893405" y="3862873"/>
              <a:ext cx="1560545" cy="205274"/>
            </a:xfrm>
            <a:prstGeom prst="rect">
              <a:avLst/>
            </a:prstGeom>
            <a:solidFill>
              <a:srgbClr val="FF0000">
                <a:alpha val="10000"/>
              </a:srgbClr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D378146C-B8CC-B72C-154B-61C5F096E334}"/>
              </a:ext>
            </a:extLst>
          </p:cNvPr>
          <p:cNvGrpSpPr/>
          <p:nvPr/>
        </p:nvGrpSpPr>
        <p:grpSpPr>
          <a:xfrm>
            <a:off x="826673" y="5995582"/>
            <a:ext cx="9588667" cy="602165"/>
            <a:chOff x="826673" y="5995582"/>
            <a:chExt cx="9588667" cy="60216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EDC1F72-E713-A6BF-4DBC-3C716396358A}"/>
                </a:ext>
              </a:extLst>
            </p:cNvPr>
            <p:cNvSpPr txBox="1"/>
            <p:nvPr/>
          </p:nvSpPr>
          <p:spPr>
            <a:xfrm>
              <a:off x="826673" y="5997583"/>
              <a:ext cx="2915909" cy="6001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 algn="l">
                <a:spcAft>
                  <a:spcPts val="600"/>
                </a:spcAft>
                <a:buFont typeface="+mj-lt"/>
                <a:buAutoNum type="arabicPeriod"/>
              </a:pPr>
              <a:r>
                <a:rPr lang="en-US" sz="1400" b="0" i="0" dirty="0"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Editor toolbar</a:t>
              </a:r>
            </a:p>
            <a:p>
              <a:pPr marL="342900" indent="-342900">
                <a:spcAft>
                  <a:spcPts val="600"/>
                </a:spcAft>
                <a:buFont typeface="+mj-lt"/>
                <a:buAutoNum type="arabicPeriod"/>
              </a:pPr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MATLAB code as a script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0558F90-5C12-1798-A942-FAFA406A272E}"/>
                </a:ext>
              </a:extLst>
            </p:cNvPr>
            <p:cNvSpPr txBox="1"/>
            <p:nvPr/>
          </p:nvSpPr>
          <p:spPr>
            <a:xfrm>
              <a:off x="3742582" y="5997583"/>
              <a:ext cx="2082550" cy="6001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spcAft>
                  <a:spcPts val="600"/>
                </a:spcAft>
                <a:buFont typeface="+mj-lt"/>
                <a:buAutoNum type="arabicPeriod" startAt="3"/>
              </a:pPr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Run button</a:t>
              </a:r>
            </a:p>
            <a:p>
              <a:pPr marL="342900" indent="-342900">
                <a:spcAft>
                  <a:spcPts val="600"/>
                </a:spcAft>
                <a:buFont typeface="+mj-lt"/>
                <a:buAutoNum type="arabicPeriod" startAt="3"/>
              </a:pPr>
              <a:r>
                <a:rPr lang="en-US" sz="1400" b="0" i="0" dirty="0"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Step button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11F74B2-6FFA-9671-9E1F-54EAB1458DF3}"/>
                </a:ext>
              </a:extLst>
            </p:cNvPr>
            <p:cNvSpPr txBox="1"/>
            <p:nvPr/>
          </p:nvSpPr>
          <p:spPr>
            <a:xfrm>
              <a:off x="5917023" y="5995582"/>
              <a:ext cx="2203213" cy="6001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spcAft>
                  <a:spcPts val="600"/>
                </a:spcAft>
                <a:buFont typeface="+mj-lt"/>
                <a:buAutoNum type="arabicPeriod" startAt="5"/>
              </a:pPr>
              <a:r>
                <a:rPr lang="en-US" sz="1400" b="0" i="0" dirty="0"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Save button</a:t>
              </a:r>
            </a:p>
            <a:p>
              <a:pPr marL="342900" indent="-342900">
                <a:spcAft>
                  <a:spcPts val="600"/>
                </a:spcAft>
                <a:buFont typeface="+mj-lt"/>
                <a:buAutoNum type="arabicPeriod" startAt="5"/>
              </a:pPr>
              <a:r>
                <a:rPr lang="en-US" sz="1400" b="0" i="0" dirty="0"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Open button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FEB76D8-C43A-4E26-7341-1A8776EC134B}"/>
                </a:ext>
              </a:extLst>
            </p:cNvPr>
            <p:cNvSpPr txBox="1"/>
            <p:nvPr/>
          </p:nvSpPr>
          <p:spPr>
            <a:xfrm>
              <a:off x="8212127" y="5997583"/>
              <a:ext cx="2203213" cy="6001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spcAft>
                  <a:spcPts val="600"/>
                </a:spcAft>
                <a:buFont typeface="+mj-lt"/>
                <a:buAutoNum type="arabicPeriod" startAt="7"/>
              </a:pPr>
              <a:r>
                <a:rPr lang="en-US" sz="1400" b="0" i="0" dirty="0"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Break points</a:t>
              </a:r>
            </a:p>
            <a:p>
              <a:pPr marL="342900" indent="-342900">
                <a:spcAft>
                  <a:spcPts val="600"/>
                </a:spcAft>
                <a:buFont typeface="+mj-lt"/>
                <a:buAutoNum type="arabicPeriod" startAt="7"/>
              </a:pPr>
              <a:r>
                <a:rPr lang="en-US" sz="1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Saved script</a:t>
              </a:r>
              <a:endParaRPr lang="en-US" sz="1400" b="0" i="0" dirty="0"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962917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MATLAB Scripts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47EE28C-49D5-57E1-1D53-27A9D780B82C}"/>
              </a:ext>
            </a:extLst>
          </p:cNvPr>
          <p:cNvSpPr txBox="1">
            <a:spLocks/>
          </p:cNvSpPr>
          <p:nvPr/>
        </p:nvSpPr>
        <p:spPr>
          <a:xfrm>
            <a:off x="581995" y="1733614"/>
            <a:ext cx="10661391" cy="339077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2000"/>
              </a:spcBef>
            </a:pPr>
            <a:r>
              <a:rPr lang="en-GB" dirty="0"/>
              <a:t>Scripts tools are found in the “Editor” toolbar</a:t>
            </a:r>
          </a:p>
          <a:p>
            <a:pPr>
              <a:spcBef>
                <a:spcPts val="2000"/>
              </a:spcBef>
            </a:pPr>
            <a:r>
              <a:rPr lang="en-GB">
                <a:latin typeface="Arial"/>
                <a:cs typeface="Arial"/>
              </a:rPr>
              <a:t>Enter MATLAB code into a blank script</a:t>
            </a:r>
          </a:p>
          <a:p>
            <a:pPr>
              <a:spcBef>
                <a:spcPts val="2000"/>
              </a:spcBef>
            </a:pPr>
            <a:r>
              <a:rPr lang="en-GB" dirty="0"/>
              <a:t>Execute MATLAB code via the “Run” button</a:t>
            </a:r>
          </a:p>
          <a:p>
            <a:pPr>
              <a:spcBef>
                <a:spcPts val="2000"/>
              </a:spcBef>
            </a:pPr>
            <a:r>
              <a:rPr lang="en-GB" dirty="0"/>
              <a:t>MATLAB executes scripts line by line</a:t>
            </a:r>
          </a:p>
          <a:p>
            <a:pPr>
              <a:spcBef>
                <a:spcPts val="2000"/>
              </a:spcBef>
            </a:pPr>
            <a:r>
              <a:rPr lang="en-GB" dirty="0"/>
              <a:t>Save or load MATLAB scripts (.m files) using the “Save” or “Load” buttons</a:t>
            </a:r>
          </a:p>
          <a:p>
            <a:pPr>
              <a:spcBef>
                <a:spcPts val="2000"/>
              </a:spcBef>
            </a:pPr>
            <a:endParaRPr lang="en-GB" dirty="0"/>
          </a:p>
        </p:txBody>
      </p:sp>
      <p:sp>
        <p:nvSpPr>
          <p:cNvPr id="3" name="矩形 8">
            <a:extLst>
              <a:ext uri="{FF2B5EF4-FFF2-40B4-BE49-F238E27FC236}">
                <a16:creationId xmlns:a16="http://schemas.microsoft.com/office/drawing/2014/main" id="{0080BD48-9CC1-C9A5-A084-8FB947629D72}"/>
              </a:ext>
            </a:extLst>
          </p:cNvPr>
          <p:cNvSpPr/>
          <p:nvPr/>
        </p:nvSpPr>
        <p:spPr>
          <a:xfrm>
            <a:off x="9589713" y="6000877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99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Debugging MATLAB Scripts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D3E98A0-58AD-A2ED-D39C-13DDD488A4F2}"/>
              </a:ext>
            </a:extLst>
          </p:cNvPr>
          <p:cNvSpPr txBox="1">
            <a:spLocks/>
          </p:cNvSpPr>
          <p:nvPr/>
        </p:nvSpPr>
        <p:spPr>
          <a:xfrm>
            <a:off x="292748" y="2637359"/>
            <a:ext cx="10493440" cy="360482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2000"/>
              </a:spcBef>
            </a:pPr>
            <a:endParaRPr lang="en-GB" sz="21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1CDCE-2BB5-AA36-C797-F6672181F27E}"/>
              </a:ext>
            </a:extLst>
          </p:cNvPr>
          <p:cNvSpPr txBox="1">
            <a:spLocks/>
          </p:cNvSpPr>
          <p:nvPr/>
        </p:nvSpPr>
        <p:spPr>
          <a:xfrm>
            <a:off x="581995" y="1733613"/>
            <a:ext cx="10661391" cy="42672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2000"/>
              </a:spcBef>
            </a:pPr>
            <a:r>
              <a:rPr lang="en-GB" dirty="0"/>
              <a:t>Read the </a:t>
            </a:r>
            <a:r>
              <a:rPr lang="en-GB" dirty="0">
                <a:solidFill>
                  <a:srgbClr val="FF0000"/>
                </a:solidFill>
              </a:rPr>
              <a:t>error</a:t>
            </a:r>
            <a:r>
              <a:rPr lang="en-GB" dirty="0"/>
              <a:t> message and it is usually very helpful</a:t>
            </a:r>
          </a:p>
          <a:p>
            <a:pPr>
              <a:spcBef>
                <a:spcPts val="2000"/>
              </a:spcBef>
            </a:pPr>
            <a:r>
              <a:rPr lang="en-GB" dirty="0"/>
              <a:t>Use the “step” button to execute code one line at a time</a:t>
            </a:r>
          </a:p>
          <a:p>
            <a:pPr>
              <a:spcBef>
                <a:spcPts val="2000"/>
              </a:spcBef>
            </a:pPr>
            <a:r>
              <a:rPr lang="en-GB" dirty="0"/>
              <a:t>View current values of variables in the workspace window</a:t>
            </a:r>
          </a:p>
          <a:p>
            <a:pPr>
              <a:spcBef>
                <a:spcPts val="2000"/>
              </a:spcBef>
            </a:pPr>
            <a:r>
              <a:rPr lang="en-GB" dirty="0"/>
              <a:t>Use breakpoints to pause execution at specific lines</a:t>
            </a:r>
          </a:p>
          <a:p>
            <a:pPr lvl="1">
              <a:spcBef>
                <a:spcPts val="2000"/>
              </a:spcBef>
            </a:pPr>
            <a:r>
              <a:rPr lang="en-GB" dirty="0"/>
              <a:t>To add a break point to a line, click the line number.</a:t>
            </a:r>
          </a:p>
          <a:p>
            <a:pPr lvl="1">
              <a:spcBef>
                <a:spcPts val="2000"/>
              </a:spcBef>
            </a:pPr>
            <a:endParaRPr lang="en-GB" dirty="0"/>
          </a:p>
          <a:p>
            <a:pPr>
              <a:spcBef>
                <a:spcPts val="2000"/>
              </a:spcBef>
            </a:pPr>
            <a:r>
              <a:rPr lang="en-GB" dirty="0"/>
              <a:t>See a separate video for more details. </a:t>
            </a:r>
          </a:p>
        </p:txBody>
      </p:sp>
      <p:sp>
        <p:nvSpPr>
          <p:cNvPr id="4" name="矩形 8">
            <a:extLst>
              <a:ext uri="{FF2B5EF4-FFF2-40B4-BE49-F238E27FC236}">
                <a16:creationId xmlns:a16="http://schemas.microsoft.com/office/drawing/2014/main" id="{B1AC898B-03E4-C6AF-73C0-636838DA4AAF}"/>
              </a:ext>
            </a:extLst>
          </p:cNvPr>
          <p:cNvSpPr/>
          <p:nvPr/>
        </p:nvSpPr>
        <p:spPr>
          <a:xfrm>
            <a:off x="9589713" y="6000877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50004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University at sunset">
            <a:extLst>
              <a:ext uri="{FF2B5EF4-FFF2-40B4-BE49-F238E27FC236}">
                <a16:creationId xmlns:a16="http://schemas.microsoft.com/office/drawing/2014/main" id="{11FDCD37-95D4-D94F-8143-5384ADC6A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75F20C-468E-F742-9149-B8A5FEBC29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5886" y="1889351"/>
            <a:ext cx="5842000" cy="1931535"/>
          </a:xfrm>
        </p:spPr>
        <p:txBody>
          <a:bodyPr>
            <a:noAutofit/>
          </a:bodyPr>
          <a:lstStyle/>
          <a:p>
            <a:pPr algn="l"/>
            <a:r>
              <a:rPr lang="en-GB">
                <a:solidFill>
                  <a:schemeClr val="bg1"/>
                </a:solidFill>
              </a:rPr>
              <a:t>Thanks!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ED6EA-1EF6-E99C-8D46-A77E8079F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5228" y="5699322"/>
            <a:ext cx="3413095" cy="854153"/>
            <a:chOff x="8385228" y="5699322"/>
            <a:chExt cx="3413095" cy="85415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4E80E0-21D5-A09C-9C43-3B822C05837D}"/>
                </a:ext>
              </a:extLst>
            </p:cNvPr>
            <p:cNvSpPr txBox="1"/>
            <p:nvPr/>
          </p:nvSpPr>
          <p:spPr>
            <a:xfrm>
              <a:off x="8385228" y="5699322"/>
              <a:ext cx="3413095" cy="461665"/>
            </a:xfrm>
            <a:prstGeom prst="rect">
              <a:avLst/>
            </a:prstGeom>
            <a:noFill/>
            <a:effectLst>
              <a:outerShdw blurRad="1270000" dist="50800" dir="5400000" sx="200000" sy="200000" algn="ctr" rotWithShape="0">
                <a:schemeClr val="tx1"/>
              </a:outerShdw>
            </a:effectLst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UofGWorldChangers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2BBCD2-E264-1B57-0E93-92E9DB639953}"/>
                </a:ext>
              </a:extLst>
            </p:cNvPr>
            <p:cNvSpPr txBox="1"/>
            <p:nvPr/>
          </p:nvSpPr>
          <p:spPr>
            <a:xfrm>
              <a:off x="9098531" y="6091810"/>
              <a:ext cx="2699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@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UofGlasgow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4EA5A01-D67E-B5A8-4983-B4E38F735C71}"/>
                </a:ext>
              </a:extLst>
            </p:cNvPr>
            <p:cNvGrpSpPr/>
            <p:nvPr/>
          </p:nvGrpSpPr>
          <p:grpSpPr>
            <a:xfrm>
              <a:off x="8516481" y="6162367"/>
              <a:ext cx="841333" cy="347112"/>
              <a:chOff x="8601252" y="6162367"/>
              <a:chExt cx="841333" cy="347112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8049EAA7-B259-E0CF-6188-D83E4A7650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78761" y="6162367"/>
                <a:ext cx="475023" cy="347112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C9EF044C-8E77-0253-404C-AEACFCC1AE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194185" y="6223334"/>
                <a:ext cx="248400" cy="248399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EFBA2B9-08B7-B52F-FE3B-91DCAC58DC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601252" y="6221141"/>
                <a:ext cx="239105" cy="23910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063787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Editor toolbar</a:t>
            </a:r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5253EAB-17F4-E9B9-0EF2-369C1DBD069F}"/>
              </a:ext>
            </a:extLst>
          </p:cNvPr>
          <p:cNvGrpSpPr/>
          <p:nvPr/>
        </p:nvGrpSpPr>
        <p:grpSpPr>
          <a:xfrm>
            <a:off x="1331387" y="1497045"/>
            <a:ext cx="8765713" cy="4551075"/>
            <a:chOff x="902178" y="1422400"/>
            <a:chExt cx="8765713" cy="4551075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B1F942BF-0759-8FC9-CE50-672E3714EFC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16597" y="2819960"/>
              <a:ext cx="7750303" cy="3153515"/>
            </a:xfrm>
            <a:prstGeom prst="rect">
              <a:avLst/>
            </a:prstGeom>
          </p:spPr>
        </p:pic>
        <p:sp>
          <p:nvSpPr>
            <p:cNvPr id="4" name="Frame 3">
              <a:extLst>
                <a:ext uri="{FF2B5EF4-FFF2-40B4-BE49-F238E27FC236}">
                  <a16:creationId xmlns:a16="http://schemas.microsoft.com/office/drawing/2014/main" id="{2A75B7F7-93E8-A1BC-D08D-3496CE25F8D7}"/>
                </a:ext>
              </a:extLst>
            </p:cNvPr>
            <p:cNvSpPr/>
            <p:nvPr/>
          </p:nvSpPr>
          <p:spPr>
            <a:xfrm>
              <a:off x="2061953" y="3271386"/>
              <a:ext cx="422030" cy="651397"/>
            </a:xfrm>
            <a:prstGeom prst="fram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5" name="Arrow: Down 4">
              <a:extLst>
                <a:ext uri="{FF2B5EF4-FFF2-40B4-BE49-F238E27FC236}">
                  <a16:creationId xmlns:a16="http://schemas.microsoft.com/office/drawing/2014/main" id="{CB34C308-B4C6-8F0B-9FD6-AEA422ECDC57}"/>
                </a:ext>
              </a:extLst>
            </p:cNvPr>
            <p:cNvSpPr/>
            <p:nvPr/>
          </p:nvSpPr>
          <p:spPr>
            <a:xfrm rot="1306239">
              <a:off x="2325711" y="2624650"/>
              <a:ext cx="221803" cy="678726"/>
            </a:xfrm>
            <a:prstGeom prst="down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020A770-7653-7F71-2FD3-C7A26CCB1524}"/>
                </a:ext>
              </a:extLst>
            </p:cNvPr>
            <p:cNvSpPr txBox="1"/>
            <p:nvPr/>
          </p:nvSpPr>
          <p:spPr>
            <a:xfrm>
              <a:off x="902178" y="1880979"/>
              <a:ext cx="160850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 dirty="0"/>
                <a:t>“Open” Button</a:t>
              </a:r>
            </a:p>
          </p:txBody>
        </p:sp>
        <p:sp>
          <p:nvSpPr>
            <p:cNvPr id="7" name="Frame 6">
              <a:extLst>
                <a:ext uri="{FF2B5EF4-FFF2-40B4-BE49-F238E27FC236}">
                  <a16:creationId xmlns:a16="http://schemas.microsoft.com/office/drawing/2014/main" id="{AAEF65C7-79D3-2945-BAF9-62B5D4F3631E}"/>
                </a:ext>
              </a:extLst>
            </p:cNvPr>
            <p:cNvSpPr/>
            <p:nvPr/>
          </p:nvSpPr>
          <p:spPr>
            <a:xfrm>
              <a:off x="1725264" y="3284258"/>
              <a:ext cx="422030" cy="651397"/>
            </a:xfrm>
            <a:prstGeom prst="fram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12" name="Arrow: Down 11">
              <a:extLst>
                <a:ext uri="{FF2B5EF4-FFF2-40B4-BE49-F238E27FC236}">
                  <a16:creationId xmlns:a16="http://schemas.microsoft.com/office/drawing/2014/main" id="{D675575F-9868-9FD1-D1B8-FE600A161BED}"/>
                </a:ext>
              </a:extLst>
            </p:cNvPr>
            <p:cNvSpPr/>
            <p:nvPr/>
          </p:nvSpPr>
          <p:spPr>
            <a:xfrm rot="20800927">
              <a:off x="1725067" y="2527632"/>
              <a:ext cx="221803" cy="767403"/>
            </a:xfrm>
            <a:prstGeom prst="down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8D30393-2A02-1E04-E288-323A50B4436B}"/>
                </a:ext>
              </a:extLst>
            </p:cNvPr>
            <p:cNvSpPr txBox="1"/>
            <p:nvPr/>
          </p:nvSpPr>
          <p:spPr>
            <a:xfrm>
              <a:off x="2169659" y="2224320"/>
              <a:ext cx="16085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 dirty="0"/>
                <a:t>“Save” Button</a:t>
              </a:r>
            </a:p>
          </p:txBody>
        </p:sp>
        <p:sp>
          <p:nvSpPr>
            <p:cNvPr id="14" name="Frame 13">
              <a:extLst>
                <a:ext uri="{FF2B5EF4-FFF2-40B4-BE49-F238E27FC236}">
                  <a16:creationId xmlns:a16="http://schemas.microsoft.com/office/drawing/2014/main" id="{1EB2F339-00F8-E129-E1FD-C618DF818DD5}"/>
                </a:ext>
              </a:extLst>
            </p:cNvPr>
            <p:cNvSpPr/>
            <p:nvPr/>
          </p:nvSpPr>
          <p:spPr>
            <a:xfrm>
              <a:off x="8328982" y="3253416"/>
              <a:ext cx="422030" cy="651397"/>
            </a:xfrm>
            <a:prstGeom prst="fram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006846A-CF01-AEE2-E058-09B79E0F4428}"/>
                </a:ext>
              </a:extLst>
            </p:cNvPr>
            <p:cNvSpPr txBox="1"/>
            <p:nvPr/>
          </p:nvSpPr>
          <p:spPr>
            <a:xfrm>
              <a:off x="6977862" y="2019478"/>
              <a:ext cx="26900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 dirty="0"/>
                <a:t>“Run” &amp; “step” Buttons</a:t>
              </a:r>
            </a:p>
          </p:txBody>
        </p:sp>
        <p:sp>
          <p:nvSpPr>
            <p:cNvPr id="16" name="Frame 15">
              <a:extLst>
                <a:ext uri="{FF2B5EF4-FFF2-40B4-BE49-F238E27FC236}">
                  <a16:creationId xmlns:a16="http://schemas.microsoft.com/office/drawing/2014/main" id="{891188D2-B773-0363-707E-6C532C08A3CB}"/>
                </a:ext>
              </a:extLst>
            </p:cNvPr>
            <p:cNvSpPr/>
            <p:nvPr/>
          </p:nvSpPr>
          <p:spPr>
            <a:xfrm>
              <a:off x="7922619" y="3253416"/>
              <a:ext cx="422030" cy="651397"/>
            </a:xfrm>
            <a:prstGeom prst="fram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17" name="Arrow: Down 16">
              <a:extLst>
                <a:ext uri="{FF2B5EF4-FFF2-40B4-BE49-F238E27FC236}">
                  <a16:creationId xmlns:a16="http://schemas.microsoft.com/office/drawing/2014/main" id="{0360EFEF-6DE5-57CB-FB29-EFD7EF868F99}"/>
                </a:ext>
              </a:extLst>
            </p:cNvPr>
            <p:cNvSpPr/>
            <p:nvPr/>
          </p:nvSpPr>
          <p:spPr>
            <a:xfrm>
              <a:off x="8229444" y="2461606"/>
              <a:ext cx="221803" cy="768136"/>
            </a:xfrm>
            <a:prstGeom prst="down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02DE868-EEF5-AF44-925D-F696F7426B70}"/>
                </a:ext>
              </a:extLst>
            </p:cNvPr>
            <p:cNvSpPr txBox="1"/>
            <p:nvPr/>
          </p:nvSpPr>
          <p:spPr>
            <a:xfrm>
              <a:off x="3822893" y="5109593"/>
              <a:ext cx="16085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 dirty="0"/>
                <a:t>Break Points</a:t>
              </a:r>
            </a:p>
          </p:txBody>
        </p:sp>
        <p:sp>
          <p:nvSpPr>
            <p:cNvPr id="19" name="Arrow: Down 18">
              <a:extLst>
                <a:ext uri="{FF2B5EF4-FFF2-40B4-BE49-F238E27FC236}">
                  <a16:creationId xmlns:a16="http://schemas.microsoft.com/office/drawing/2014/main" id="{40D34F2E-E4CC-5F78-2DE9-3CE9EF8ADA5F}"/>
                </a:ext>
              </a:extLst>
            </p:cNvPr>
            <p:cNvSpPr/>
            <p:nvPr/>
          </p:nvSpPr>
          <p:spPr>
            <a:xfrm rot="15943585">
              <a:off x="5556802" y="4710691"/>
              <a:ext cx="295050" cy="1007808"/>
            </a:xfrm>
            <a:prstGeom prst="down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Arrow: Down 19">
              <a:extLst>
                <a:ext uri="{FF2B5EF4-FFF2-40B4-BE49-F238E27FC236}">
                  <a16:creationId xmlns:a16="http://schemas.microsoft.com/office/drawing/2014/main" id="{796C688E-67B0-17B5-DF2A-E8C8C11E09CF}"/>
                </a:ext>
              </a:extLst>
            </p:cNvPr>
            <p:cNvSpPr/>
            <p:nvPr/>
          </p:nvSpPr>
          <p:spPr>
            <a:xfrm rot="16403204">
              <a:off x="5583494" y="4909267"/>
              <a:ext cx="248452" cy="992019"/>
            </a:xfrm>
            <a:prstGeom prst="down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F2E085C-1CB3-4FEB-A100-A7B6FA1637A1}"/>
                </a:ext>
              </a:extLst>
            </p:cNvPr>
            <p:cNvSpPr txBox="1"/>
            <p:nvPr/>
          </p:nvSpPr>
          <p:spPr>
            <a:xfrm>
              <a:off x="5291748" y="2133369"/>
              <a:ext cx="160850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 dirty="0"/>
                <a:t>code as a script</a:t>
              </a:r>
            </a:p>
          </p:txBody>
        </p:sp>
        <p:sp>
          <p:nvSpPr>
            <p:cNvPr id="22" name="Arrow: Down 21">
              <a:extLst>
                <a:ext uri="{FF2B5EF4-FFF2-40B4-BE49-F238E27FC236}">
                  <a16:creationId xmlns:a16="http://schemas.microsoft.com/office/drawing/2014/main" id="{5E60C17C-F36F-3D23-0A7F-70A292566F55}"/>
                </a:ext>
              </a:extLst>
            </p:cNvPr>
            <p:cNvSpPr/>
            <p:nvPr/>
          </p:nvSpPr>
          <p:spPr>
            <a:xfrm rot="20268729">
              <a:off x="6276377" y="2711575"/>
              <a:ext cx="236006" cy="2010917"/>
            </a:xfrm>
            <a:prstGeom prst="down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Frame 22">
              <a:extLst>
                <a:ext uri="{FF2B5EF4-FFF2-40B4-BE49-F238E27FC236}">
                  <a16:creationId xmlns:a16="http://schemas.microsoft.com/office/drawing/2014/main" id="{50349BAE-1F47-AEB8-CE0E-B1381152FAD5}"/>
                </a:ext>
              </a:extLst>
            </p:cNvPr>
            <p:cNvSpPr/>
            <p:nvPr/>
          </p:nvSpPr>
          <p:spPr>
            <a:xfrm>
              <a:off x="1481113" y="4692603"/>
              <a:ext cx="1332361" cy="327927"/>
            </a:xfrm>
            <a:prstGeom prst="fram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24" name="Arrow: Down 23">
              <a:extLst>
                <a:ext uri="{FF2B5EF4-FFF2-40B4-BE49-F238E27FC236}">
                  <a16:creationId xmlns:a16="http://schemas.microsoft.com/office/drawing/2014/main" id="{3022CA31-3087-A453-FA8C-6A776A4D6B4C}"/>
                </a:ext>
              </a:extLst>
            </p:cNvPr>
            <p:cNvSpPr/>
            <p:nvPr/>
          </p:nvSpPr>
          <p:spPr>
            <a:xfrm rot="10800000">
              <a:off x="2483982" y="5073130"/>
              <a:ext cx="166194" cy="399468"/>
            </a:xfrm>
            <a:prstGeom prst="down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1CD9474-8247-3467-657D-AE3FB12DBE6B}"/>
                </a:ext>
              </a:extLst>
            </p:cNvPr>
            <p:cNvSpPr txBox="1"/>
            <p:nvPr/>
          </p:nvSpPr>
          <p:spPr>
            <a:xfrm>
              <a:off x="1631462" y="5480580"/>
              <a:ext cx="17050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 dirty="0"/>
                <a:t>Saved script file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6B53336-8A10-4B37-0E4A-6B44356DB221}"/>
                </a:ext>
              </a:extLst>
            </p:cNvPr>
            <p:cNvSpPr txBox="1"/>
            <p:nvPr/>
          </p:nvSpPr>
          <p:spPr>
            <a:xfrm>
              <a:off x="3183438" y="1422400"/>
              <a:ext cx="19210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 dirty="0"/>
                <a:t>“Editor” Toolbar</a:t>
              </a:r>
            </a:p>
          </p:txBody>
        </p:sp>
        <p:sp>
          <p:nvSpPr>
            <p:cNvPr id="27" name="Frame 26">
              <a:extLst>
                <a:ext uri="{FF2B5EF4-FFF2-40B4-BE49-F238E27FC236}">
                  <a16:creationId xmlns:a16="http://schemas.microsoft.com/office/drawing/2014/main" id="{24560E76-0164-D305-FC9D-F4879C26B667}"/>
                </a:ext>
              </a:extLst>
            </p:cNvPr>
            <p:cNvSpPr/>
            <p:nvPr/>
          </p:nvSpPr>
          <p:spPr>
            <a:xfrm>
              <a:off x="3668676" y="2969830"/>
              <a:ext cx="1033869" cy="479478"/>
            </a:xfrm>
            <a:prstGeom prst="fram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28" name="Arrow: Down 27">
              <a:extLst>
                <a:ext uri="{FF2B5EF4-FFF2-40B4-BE49-F238E27FC236}">
                  <a16:creationId xmlns:a16="http://schemas.microsoft.com/office/drawing/2014/main" id="{4D665CF9-B264-5C9B-3048-CDB4A0D14CB6}"/>
                </a:ext>
              </a:extLst>
            </p:cNvPr>
            <p:cNvSpPr/>
            <p:nvPr/>
          </p:nvSpPr>
          <p:spPr>
            <a:xfrm>
              <a:off x="4063924" y="1923536"/>
              <a:ext cx="239737" cy="997678"/>
            </a:xfrm>
            <a:prstGeom prst="down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9099980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cc9bed8-8410-44eb-bf25-ca1ea4636418">
      <Terms xmlns="http://schemas.microsoft.com/office/infopath/2007/PartnerControls"/>
    </lcf76f155ced4ddcb4097134ff3c332f>
    <TaxCatchAll xmlns="dfc159fb-6789-415c-9027-b0bc58ba83c2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3DDD16490E0A48848881CB6EECDF92" ma:contentTypeVersion="14" ma:contentTypeDescription="Create a new document." ma:contentTypeScope="" ma:versionID="7257862a4d6c3825659cc59ecdb78f01">
  <xsd:schema xmlns:xsd="http://www.w3.org/2001/XMLSchema" xmlns:xs="http://www.w3.org/2001/XMLSchema" xmlns:p="http://schemas.microsoft.com/office/2006/metadata/properties" xmlns:ns2="1cc9bed8-8410-44eb-bf25-ca1ea4636418" xmlns:ns3="dfc159fb-6789-415c-9027-b0bc58ba83c2" targetNamespace="http://schemas.microsoft.com/office/2006/metadata/properties" ma:root="true" ma:fieldsID="e75013956d80933023b8c9f213f858d3" ns2:_="" ns3:_="">
    <xsd:import namespace="1cc9bed8-8410-44eb-bf25-ca1ea4636418"/>
    <xsd:import namespace="dfc159fb-6789-415c-9027-b0bc58ba83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c9bed8-8410-44eb-bf25-ca1ea4636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306b285-ac2c-4225-b56d-e54690cf9c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c159fb-6789-415c-9027-b0bc58ba83c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9eadc21-23c5-47b9-90bf-40474c6df852}" ma:internalName="TaxCatchAll" ma:showField="CatchAllData" ma:web="dfc159fb-6789-415c-9027-b0bc58ba83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CD7B8BB-DF34-4CCD-AD0A-348481A1A9F1}">
  <ds:schemaRefs>
    <ds:schemaRef ds:uri="http://schemas.microsoft.com/office/2006/metadata/properties"/>
    <ds:schemaRef ds:uri="http://schemas.microsoft.com/office/infopath/2007/PartnerControls"/>
    <ds:schemaRef ds:uri="1cc9bed8-8410-44eb-bf25-ca1ea4636418"/>
    <ds:schemaRef ds:uri="dfc159fb-6789-415c-9027-b0bc58ba83c2"/>
  </ds:schemaRefs>
</ds:datastoreItem>
</file>

<file path=customXml/itemProps2.xml><?xml version="1.0" encoding="utf-8"?>
<ds:datastoreItem xmlns:ds="http://schemas.openxmlformats.org/officeDocument/2006/customXml" ds:itemID="{865FFA9F-61FB-4FB4-A253-7F2FD9A32A7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B2E130F-9AFA-4303-8609-ED8D30C59D0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c9bed8-8410-44eb-bf25-ca1ea4636418"/>
    <ds:schemaRef ds:uri="dfc159fb-6789-415c-9027-b0bc58ba83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1839</TotalTime>
  <Words>398</Words>
  <Application>Microsoft Office PowerPoint</Application>
  <PresentationFormat>Widescreen</PresentationFormat>
  <Paragraphs>127</Paragraphs>
  <Slides>15</Slides>
  <Notes>15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MATLAB Scripts</vt:lpstr>
      <vt:lpstr>MATLAB scripts </vt:lpstr>
      <vt:lpstr>Creating a MATLAB script</vt:lpstr>
      <vt:lpstr>Script layout</vt:lpstr>
      <vt:lpstr>Script layout</vt:lpstr>
      <vt:lpstr>Script layout</vt:lpstr>
      <vt:lpstr>Script layout</vt:lpstr>
      <vt:lpstr>Script layout</vt:lpstr>
      <vt:lpstr>Script layout</vt:lpstr>
      <vt:lpstr>Script layout</vt:lpstr>
      <vt:lpstr>Script layout</vt:lpstr>
      <vt:lpstr>MATLAB Scripts</vt:lpstr>
      <vt:lpstr>Debugging MATLAB Scripts</vt:lpstr>
      <vt:lpstr>Thanks!</vt:lpstr>
      <vt:lpstr>Editor toolbar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/>
  <cp:lastModifiedBy>Bo Liu</cp:lastModifiedBy>
  <cp:revision>66</cp:revision>
  <dcterms:created xsi:type="dcterms:W3CDTF">2021-01-06T14:22:07Z</dcterms:created>
  <dcterms:modified xsi:type="dcterms:W3CDTF">2024-10-16T02:10:08Z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0x0101009C3DDD16490E0A48848881CB6EECDF92</vt:lpwstr>
  </property>
  <property fmtid="{D5CDD505-2E9C-101B-9397-08002B2CF9AE}" pid="3" name="MediaServiceImageTags">
    <vt:lpwstr/>
  </property>
</Properties>
</file>