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8" r:id="rId8"/>
    <p:sldId id="499" r:id="rId9"/>
    <p:sldId id="500" r:id="rId10"/>
    <p:sldId id="501" r:id="rId11"/>
    <p:sldId id="502" r:id="rId12"/>
    <p:sldId id="273" r:id="rId13"/>
    <p:sldId id="5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03" d="100"/>
          <a:sy n="103" d="100"/>
        </p:scale>
        <p:origin x="114" y="204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22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36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85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84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42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65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7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23/06/2024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google.com/url?sa=t&amp;rct=j&amp;q=&amp;esrc=s&amp;source=web&amp;cd=&amp;cad=rja&amp;uact=8&amp;ved=2ahUKEwjW5OPcgZH9AhXVHsAKHSZWDaoQFnoECBsQAQ&amp;url=https%3A%2F%2Fwww.mathworks.com%2Fhelp%2Fmatlab%2Fref%2Fnum2str.html&amp;usg=AOvVaw3GtLpiIOoPth2bpwoIGo9-" TargetMode="External"/><Relationship Id="rId7" Type="http://schemas.openxmlformats.org/officeDocument/2006/relationships/hyperlink" Target="https://uk.mathworks.com/help/matlab/ref/bin2dec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google.com/url?sa=t&amp;rct=j&amp;q=&amp;esrc=s&amp;source=web&amp;cd=&amp;cad=rja&amp;uact=8&amp;ved=2ahUKEwjPioWHgpH9AhWEYcAKHW6SBHoQFnoECAwQAQ&amp;url=https%3A%2F%2Fwww.mathworks.com%2Fhelp%2Fmatlab%2Fref%2Fdec2bin.html&amp;usg=AOvVaw2qjw64DMsathapd-SPZu68" TargetMode="External"/><Relationship Id="rId5" Type="http://schemas.openxmlformats.org/officeDocument/2006/relationships/hyperlink" Target="https://www.google.com/url?sa=t&amp;rct=j&amp;q=&amp;esrc=s&amp;source=web&amp;cd=&amp;cad=rja&amp;uact=8&amp;ved=2ahUKEwjb1_r2gZH9AhXfRkEAHYYbAZMQFnoECA0QAQ&amp;url=https%3A%2F%2Fwww.mathworks.com%2Fhelp%2Fmatlab%2Fref%2Fchar.html&amp;usg=AOvVaw1r_WaNxNWkY9KcKs8YXVIE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uk.mathworks.com/help/matlab/ref/int2str.html" TargetMode="Externa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uk.mathworks.com/help/matlab/ref/ceil.html" TargetMode="External"/><Relationship Id="rId13" Type="http://schemas.openxmlformats.org/officeDocument/2006/relationships/hyperlink" Target="https://uk.mathworks.com/help/matlab/ref/sum.html" TargetMode="External"/><Relationship Id="rId3" Type="http://schemas.openxmlformats.org/officeDocument/2006/relationships/hyperlink" Target="https://uk.mathworks.com/help/matlab/ref/size.html" TargetMode="External"/><Relationship Id="rId7" Type="http://schemas.openxmlformats.org/officeDocument/2006/relationships/hyperlink" Target="https://uk.mathworks.com/help/matlab/ref/round.html" TargetMode="External"/><Relationship Id="rId12" Type="http://schemas.openxmlformats.org/officeDocument/2006/relationships/hyperlink" Target="https://uk.mathworks.com/help/matlab/ref/std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uk.mathworks.com/help/matlab/ref/min.html" TargetMode="External"/><Relationship Id="rId11" Type="http://schemas.openxmlformats.org/officeDocument/2006/relationships/hyperlink" Target="https://uk.mathworks.com/help/matlab/ref/median.html" TargetMode="External"/><Relationship Id="rId5" Type="http://schemas.openxmlformats.org/officeDocument/2006/relationships/hyperlink" Target="https://uk.mathworks.com/help/matlab/ref/max.html" TargetMode="External"/><Relationship Id="rId10" Type="http://schemas.openxmlformats.org/officeDocument/2006/relationships/hyperlink" Target="https://uk.mathworks.com/help/matlab/ref/mean.html" TargetMode="External"/><Relationship Id="rId4" Type="http://schemas.openxmlformats.org/officeDocument/2006/relationships/hyperlink" Target="https://uk.mathworks.com/help/parallel-computing/distributed.length.html" TargetMode="External"/><Relationship Id="rId9" Type="http://schemas.openxmlformats.org/officeDocument/2006/relationships/hyperlink" Target="https://uk.mathworks.com/help/matlab/ref/floo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Popular Built-in Functions (1)</a:t>
            </a: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Built-in functions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30825-0C0F-405E-C887-DFAB8768B60F}"/>
              </a:ext>
            </a:extLst>
          </p:cNvPr>
          <p:cNvSpPr txBox="1">
            <a:spLocks/>
          </p:cNvSpPr>
          <p:nvPr/>
        </p:nvSpPr>
        <p:spPr>
          <a:xfrm>
            <a:off x="508209" y="1716585"/>
            <a:ext cx="11251990" cy="480551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GB" dirty="0"/>
              <a:t>MATLAB has many built-in functions.</a:t>
            </a:r>
          </a:p>
          <a:p>
            <a:pPr marL="0" indent="0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GB" dirty="0"/>
              <a:t>To call a mathematical function, enter </a:t>
            </a:r>
            <a:r>
              <a:rPr lang="en-GB" u="sng" dirty="0">
                <a:solidFill>
                  <a:schemeClr val="accent6">
                    <a:lumMod val="75000"/>
                  </a:schemeClr>
                </a:solidFill>
              </a:rPr>
              <a:t>the function name</a:t>
            </a:r>
            <a:r>
              <a:rPr lang="en-GB" dirty="0"/>
              <a:t>, then the </a:t>
            </a:r>
            <a:r>
              <a:rPr lang="en-GB" u="sng" dirty="0">
                <a:solidFill>
                  <a:schemeClr val="accent2">
                    <a:lumMod val="75000"/>
                  </a:schemeClr>
                </a:solidFill>
              </a:rPr>
              <a:t>input/argument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dirty="0"/>
              <a:t>in parentheses.</a:t>
            </a:r>
          </a:p>
          <a:p>
            <a:pPr>
              <a:spcBef>
                <a:spcPts val="1800"/>
              </a:spcBef>
            </a:pPr>
            <a:endParaRPr lang="en-GB" dirty="0"/>
          </a:p>
          <a:p>
            <a:pPr>
              <a:spcBef>
                <a:spcPts val="1800"/>
              </a:spcBef>
            </a:pPr>
            <a:endParaRPr lang="en-GB" dirty="0"/>
          </a:p>
          <a:p>
            <a:pPr marL="0" indent="0">
              <a:spcBef>
                <a:spcPts val="1800"/>
              </a:spcBef>
              <a:buNone/>
            </a:pPr>
            <a:endParaRPr lang="en-GB" dirty="0"/>
          </a:p>
          <a:p>
            <a:pPr marL="0" indent="0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GB" dirty="0"/>
              <a:t>For example,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sin</a:t>
            </a:r>
            <a:r>
              <a:rPr lang="en-GB" dirty="0"/>
              <a:t> of </a:t>
            </a:r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π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/2</a:t>
            </a:r>
            <a:r>
              <a:rPr lang="en-GB" dirty="0"/>
              <a:t>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03F6BB-7F73-8868-D066-8DE0B75BF43B}"/>
              </a:ext>
            </a:extLst>
          </p:cNvPr>
          <p:cNvGrpSpPr/>
          <p:nvPr/>
        </p:nvGrpSpPr>
        <p:grpSpPr>
          <a:xfrm>
            <a:off x="2751518" y="2873578"/>
            <a:ext cx="4553343" cy="1627712"/>
            <a:chOff x="1583816" y="2190923"/>
            <a:chExt cx="4553343" cy="162771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10C612-20DC-97AD-8023-B70F6877259A}"/>
                </a:ext>
              </a:extLst>
            </p:cNvPr>
            <p:cNvSpPr txBox="1"/>
            <p:nvPr/>
          </p:nvSpPr>
          <p:spPr>
            <a:xfrm>
              <a:off x="1583816" y="3449303"/>
              <a:ext cx="3640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>
                      <a:lumMod val="75000"/>
                    </a:schemeClr>
                  </a:solidFill>
                </a:rPr>
                <a:t>The name of the function to be called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3732F37-FEFC-415E-F9CD-16A36F4FE356}"/>
                </a:ext>
              </a:extLst>
            </p:cNvPr>
            <p:cNvGrpSpPr/>
            <p:nvPr/>
          </p:nvGrpSpPr>
          <p:grpSpPr>
            <a:xfrm>
              <a:off x="2381776" y="2190923"/>
              <a:ext cx="3755383" cy="1317541"/>
              <a:chOff x="2381776" y="2190923"/>
              <a:chExt cx="3755383" cy="1317541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FDA813F-CF9C-A158-0FC8-2733E3C06B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1776" y="2837619"/>
                <a:ext cx="3239686" cy="670845"/>
              </a:xfrm>
              <a:prstGeom prst="rect">
                <a:avLst/>
              </a:prstGeom>
            </p:spPr>
          </p:pic>
          <p:sp>
            <p:nvSpPr>
              <p:cNvPr id="9" name="Left Brace 8">
                <a:extLst>
                  <a:ext uri="{FF2B5EF4-FFF2-40B4-BE49-F238E27FC236}">
                    <a16:creationId xmlns:a16="http://schemas.microsoft.com/office/drawing/2014/main" id="{D920E4AE-5C84-CDE2-719A-13244D381864}"/>
                  </a:ext>
                </a:extLst>
              </p:cNvPr>
              <p:cNvSpPr/>
              <p:nvPr/>
            </p:nvSpPr>
            <p:spPr>
              <a:xfrm rot="5400000">
                <a:off x="4701018" y="2143637"/>
                <a:ext cx="324067" cy="1182806"/>
              </a:xfrm>
              <a:prstGeom prst="leftBrace">
                <a:avLst/>
              </a:prstGeom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288000" rtlCol="0" anchor="ctr"/>
              <a:lstStyle/>
              <a:p>
                <a:pPr algn="ctr"/>
                <a:endParaRPr lang="en-GB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73D7DF-7868-7210-B1C4-679F1C0DBF25}"/>
                  </a:ext>
                </a:extLst>
              </p:cNvPr>
              <p:cNvSpPr txBox="1"/>
              <p:nvPr/>
            </p:nvSpPr>
            <p:spPr>
              <a:xfrm>
                <a:off x="3656993" y="2190923"/>
                <a:ext cx="2480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2">
                        <a:lumMod val="75000"/>
                      </a:schemeClr>
                    </a:solidFill>
                  </a:rPr>
                  <a:t>The input to the function</a:t>
                </a: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59A7B-5FB0-AFD1-7E5E-00F9376F2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590" y="4915867"/>
            <a:ext cx="1544012" cy="1370852"/>
          </a:xfrm>
          <a:prstGeom prst="rect">
            <a:avLst/>
          </a:prstGeom>
        </p:spPr>
      </p:pic>
      <p:sp>
        <p:nvSpPr>
          <p:cNvPr id="13" name="矩形 8">
            <a:extLst>
              <a:ext uri="{FF2B5EF4-FFF2-40B4-BE49-F238E27FC236}">
                <a16:creationId xmlns:a16="http://schemas.microsoft.com/office/drawing/2014/main" id="{36ECF136-CEC3-7B93-EE4C-4906A3B3E738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datatype conversion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4A3835-807C-3B56-6BCA-AED568F922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5583601"/>
              </p:ext>
            </p:extLst>
          </p:nvPr>
        </p:nvGraphicFramePr>
        <p:xfrm>
          <a:off x="945891" y="1835822"/>
          <a:ext cx="9210963" cy="2223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99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6411964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36956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num2str()</a:t>
                      </a:r>
                      <a:endParaRPr lang="en-GB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Converts a numerical input into a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4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4"/>
                        </a:rPr>
                        <a:t>int2str()</a:t>
                      </a:r>
                      <a:endParaRPr lang="en-GB" sz="16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Converts an integer into a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2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5"/>
                        </a:rPr>
                        <a:t>char()</a:t>
                      </a:r>
                      <a:endParaRPr lang="en-GB" sz="16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Converts a string into an array of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71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6"/>
                        </a:rPr>
                        <a:t>dec2bin()</a:t>
                      </a:r>
                      <a:endParaRPr lang="en-GB" sz="16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Converts an integer into a binary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849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7"/>
                        </a:rPr>
                        <a:t>bin2dec()</a:t>
                      </a:r>
                      <a:endParaRPr lang="en-GB" sz="16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Converts a binary number into an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39715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71F54AE3-98B9-253F-9C27-768196F4356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007"/>
          <a:stretch/>
        </p:blipFill>
        <p:spPr>
          <a:xfrm>
            <a:off x="2281674" y="4697456"/>
            <a:ext cx="1496855" cy="10288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9A2663-FD6D-5DB6-7F9E-B2207830CF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9876" y="4668950"/>
            <a:ext cx="1257475" cy="10193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553D1B-096A-E82B-6513-C7EE33ABF70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-2993"/>
          <a:stretch/>
        </p:blipFill>
        <p:spPr>
          <a:xfrm>
            <a:off x="8486093" y="4678403"/>
            <a:ext cx="1589462" cy="10383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矩形 8">
            <a:extLst>
              <a:ext uri="{FF2B5EF4-FFF2-40B4-BE49-F238E27FC236}">
                <a16:creationId xmlns:a16="http://schemas.microsoft.com/office/drawing/2014/main" id="{09CAA526-5BDC-A7F9-A53A-358BD117145F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830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369205" cy="888786"/>
          </a:xfrm>
        </p:spPr>
        <p:txBody>
          <a:bodyPr/>
          <a:lstStyle/>
          <a:p>
            <a:r>
              <a:rPr lang="en-GB" dirty="0"/>
              <a:t>Finding the largest and smallest elements in a matrix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0F50E18-AE1B-C2EB-7BB1-FE99ABECB1F9}"/>
              </a:ext>
            </a:extLst>
          </p:cNvPr>
          <p:cNvSpPr txBox="1">
            <a:spLocks/>
          </p:cNvSpPr>
          <p:nvPr/>
        </p:nvSpPr>
        <p:spPr>
          <a:xfrm>
            <a:off x="386392" y="1540765"/>
            <a:ext cx="9746654" cy="55078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/>
              <a:t>The “</a:t>
            </a:r>
            <a:r>
              <a:rPr lang="en-GB" dirty="0">
                <a:latin typeface="Consolas" panose="020B0609020204030204" pitchFamily="49" charset="0"/>
              </a:rPr>
              <a:t>max</a:t>
            </a:r>
            <a:r>
              <a:rPr lang="en-GB" dirty="0"/>
              <a:t>” and “</a:t>
            </a:r>
            <a:r>
              <a:rPr lang="en-GB" dirty="0">
                <a:latin typeface="Consolas" panose="020B0609020204030204" pitchFamily="49" charset="0"/>
              </a:rPr>
              <a:t>min</a:t>
            </a:r>
            <a:r>
              <a:rPr lang="en-GB" dirty="0"/>
              <a:t>” provide the maximum and minimum element of the input matrix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By default, these functions operate along columns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4E37D-8EA1-64FF-BAEE-F0EC0B8D68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8362"/>
          <a:stretch/>
        </p:blipFill>
        <p:spPr>
          <a:xfrm>
            <a:off x="1699748" y="3951515"/>
            <a:ext cx="1928681" cy="3405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EF0BEF-7324-0766-1A26-176F51592E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2"/>
          <a:stretch/>
        </p:blipFill>
        <p:spPr>
          <a:xfrm>
            <a:off x="7376535" y="3869576"/>
            <a:ext cx="1928680" cy="11497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5FB76B-2561-DEFD-E507-31E7EBB3FB8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0868"/>
          <a:stretch/>
        </p:blipFill>
        <p:spPr>
          <a:xfrm>
            <a:off x="1700074" y="5626044"/>
            <a:ext cx="1957688" cy="8689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08D176-52BA-5EF4-6E7E-BE43F11BDB7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46"/>
          <a:stretch/>
        </p:blipFill>
        <p:spPr>
          <a:xfrm>
            <a:off x="7399547" y="5182075"/>
            <a:ext cx="1905668" cy="12208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8FAAC78-FAC0-802F-34E4-D15771B869DD}"/>
              </a:ext>
            </a:extLst>
          </p:cNvPr>
          <p:cNvGrpSpPr/>
          <p:nvPr/>
        </p:nvGrpSpPr>
        <p:grpSpPr>
          <a:xfrm>
            <a:off x="3903945" y="4564886"/>
            <a:ext cx="3113378" cy="369332"/>
            <a:chOff x="3903945" y="4564886"/>
            <a:chExt cx="3113378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67F7AC-4A24-BD87-CA90-638FC9694A95}"/>
                </a:ext>
              </a:extLst>
            </p:cNvPr>
            <p:cNvSpPr txBox="1"/>
            <p:nvPr/>
          </p:nvSpPr>
          <p:spPr>
            <a:xfrm>
              <a:off x="4688371" y="4564886"/>
              <a:ext cx="1601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Along columns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2022925-57DD-3EB8-904A-1BB3FDAF5D29}"/>
                </a:ext>
              </a:extLst>
            </p:cNvPr>
            <p:cNvCxnSpPr/>
            <p:nvPr/>
          </p:nvCxnSpPr>
          <p:spPr>
            <a:xfrm>
              <a:off x="6366811" y="4773256"/>
              <a:ext cx="6505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68BDC6-C0FB-578D-F8A4-C1DBCDF1C4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3945" y="4773256"/>
              <a:ext cx="5707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71B2AAE-DCE2-10F4-F80A-7B97D26A531C}"/>
              </a:ext>
            </a:extLst>
          </p:cNvPr>
          <p:cNvGrpSpPr/>
          <p:nvPr/>
        </p:nvGrpSpPr>
        <p:grpSpPr>
          <a:xfrm>
            <a:off x="3885616" y="5385392"/>
            <a:ext cx="3131707" cy="369332"/>
            <a:chOff x="3885616" y="5385392"/>
            <a:chExt cx="3131707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2B78C9-E9FD-30A6-584A-51AA13531628}"/>
                </a:ext>
              </a:extLst>
            </p:cNvPr>
            <p:cNvSpPr txBox="1"/>
            <p:nvPr/>
          </p:nvSpPr>
          <p:spPr>
            <a:xfrm>
              <a:off x="4855083" y="5385392"/>
              <a:ext cx="1268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Along rows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3CA84C7-ADE3-F850-26F2-31906E56CC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5616" y="5570058"/>
              <a:ext cx="9101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F21B138-A998-48A5-9CEE-93479199956F}"/>
                </a:ext>
              </a:extLst>
            </p:cNvPr>
            <p:cNvCxnSpPr>
              <a:cxnSpLocks/>
            </p:cNvCxnSpPr>
            <p:nvPr/>
          </p:nvCxnSpPr>
          <p:spPr>
            <a:xfrm>
              <a:off x="6244072" y="5570058"/>
              <a:ext cx="7732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BEC8B4-D24A-5D48-21F4-581C5BFE340C}"/>
              </a:ext>
            </a:extLst>
          </p:cNvPr>
          <p:cNvGrpSpPr/>
          <p:nvPr/>
        </p:nvGrpSpPr>
        <p:grpSpPr>
          <a:xfrm>
            <a:off x="4189311" y="2956712"/>
            <a:ext cx="6944414" cy="3413497"/>
            <a:chOff x="4189311" y="2956712"/>
            <a:chExt cx="6944414" cy="3413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A2A9CC3-3F3D-023D-6C39-2FE83143D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78024"/>
            <a:stretch/>
          </p:blipFill>
          <p:spPr>
            <a:xfrm>
              <a:off x="4189311" y="2956712"/>
              <a:ext cx="2672245" cy="31431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7" name="矩形 8">
              <a:extLst>
                <a:ext uri="{FF2B5EF4-FFF2-40B4-BE49-F238E27FC236}">
                  <a16:creationId xmlns:a16="http://schemas.microsoft.com/office/drawing/2014/main" id="{50D21B2F-D35A-5696-05FB-8810DC616B9B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CDFD12C-5B37-D8F8-9B3A-7FBEC075D3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359"/>
          <a:stretch/>
        </p:blipFill>
        <p:spPr>
          <a:xfrm>
            <a:off x="1699747" y="4398842"/>
            <a:ext cx="1928681" cy="6204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12A544-D552-C973-DF24-79D448706BE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9221"/>
          <a:stretch/>
        </p:blipFill>
        <p:spPr>
          <a:xfrm>
            <a:off x="4189311" y="3408240"/>
            <a:ext cx="2672245" cy="10122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2B21EC-946E-D88D-AA7E-6A871254AC0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1257"/>
          <a:stretch/>
        </p:blipFill>
        <p:spPr>
          <a:xfrm>
            <a:off x="1700074" y="5280440"/>
            <a:ext cx="1957688" cy="2355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3505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Return value unpacking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65473C-E886-65FC-376D-AD8AA24B15FD}"/>
              </a:ext>
            </a:extLst>
          </p:cNvPr>
          <p:cNvSpPr txBox="1">
            <a:spLocks/>
          </p:cNvSpPr>
          <p:nvPr/>
        </p:nvSpPr>
        <p:spPr>
          <a:xfrm>
            <a:off x="534987" y="1657118"/>
            <a:ext cx="11193236" cy="46672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Some MATLAB functions return multiple values</a:t>
            </a:r>
          </a:p>
          <a:p>
            <a:pPr lvl="1">
              <a:spcBef>
                <a:spcPts val="1200"/>
              </a:spcBef>
            </a:pPr>
            <a:r>
              <a:rPr lang="en-GB" sz="2100" dirty="0"/>
              <a:t>By default, all values except the primary return value are ignored</a:t>
            </a:r>
          </a:p>
          <a:p>
            <a:pPr lvl="1">
              <a:spcBef>
                <a:spcPts val="1200"/>
              </a:spcBef>
            </a:pPr>
            <a:endParaRPr lang="en-GB" sz="2100" dirty="0"/>
          </a:p>
          <a:p>
            <a:pPr lvl="1">
              <a:spcBef>
                <a:spcPts val="1200"/>
              </a:spcBef>
            </a:pPr>
            <a:endParaRPr lang="en-GB" sz="2100" dirty="0"/>
          </a:p>
          <a:p>
            <a:pPr lvl="1">
              <a:spcBef>
                <a:spcPts val="1200"/>
              </a:spcBef>
            </a:pPr>
            <a:endParaRPr lang="en-GB" sz="2100" dirty="0"/>
          </a:p>
          <a:p>
            <a:pPr lvl="1">
              <a:spcBef>
                <a:spcPts val="1200"/>
              </a:spcBef>
            </a:pPr>
            <a:endParaRPr lang="en-GB" sz="2100" dirty="0"/>
          </a:p>
          <a:p>
            <a:pPr marL="342900" lvl="1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sz="2100" dirty="0"/>
          </a:p>
          <a:p>
            <a:pPr lvl="1">
              <a:spcBef>
                <a:spcPts val="1200"/>
              </a:spcBef>
            </a:pPr>
            <a:r>
              <a:rPr lang="en-GB" sz="2100" dirty="0"/>
              <a:t>Here the returned values from the function will be saved into variables “</a:t>
            </a:r>
            <a:r>
              <a:rPr lang="en-GB" sz="2100" dirty="0">
                <a:latin typeface="Consolas" panose="020B0609020204030204" pitchFamily="49" charset="0"/>
              </a:rPr>
              <a:t>val1</a:t>
            </a:r>
            <a:r>
              <a:rPr lang="en-GB" sz="2100" dirty="0"/>
              <a:t>” and “</a:t>
            </a:r>
            <a:r>
              <a:rPr lang="en-GB" sz="2100" dirty="0">
                <a:latin typeface="Consolas" panose="020B0609020204030204" pitchFamily="49" charset="0"/>
              </a:rPr>
              <a:t>val2</a:t>
            </a:r>
            <a:r>
              <a:rPr lang="en-GB" sz="2100" dirty="0"/>
              <a:t>”.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7647DF-6376-A374-0ED6-2A1E014D223A}"/>
              </a:ext>
            </a:extLst>
          </p:cNvPr>
          <p:cNvGrpSpPr/>
          <p:nvPr/>
        </p:nvGrpSpPr>
        <p:grpSpPr>
          <a:xfrm>
            <a:off x="1498126" y="2726788"/>
            <a:ext cx="6011154" cy="1908275"/>
            <a:chOff x="1137229" y="2107344"/>
            <a:chExt cx="6011154" cy="190827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62A77C6-111A-F6CB-6E2C-5B0F4CA9526C}"/>
                </a:ext>
              </a:extLst>
            </p:cNvPr>
            <p:cNvGrpSpPr/>
            <p:nvPr/>
          </p:nvGrpSpPr>
          <p:grpSpPr>
            <a:xfrm>
              <a:off x="1137229" y="2107344"/>
              <a:ext cx="6011154" cy="1908275"/>
              <a:chOff x="1137229" y="2107344"/>
              <a:chExt cx="6011154" cy="190827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9F258AE-3ACB-65EA-20BD-0F2EC6508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0828" y="2896360"/>
                <a:ext cx="5281581" cy="789016"/>
              </a:xfrm>
              <a:prstGeom prst="rect">
                <a:avLst/>
              </a:prstGeom>
            </p:spPr>
          </p:pic>
          <p:sp>
            <p:nvSpPr>
              <p:cNvPr id="7" name="Left Brace 6">
                <a:extLst>
                  <a:ext uri="{FF2B5EF4-FFF2-40B4-BE49-F238E27FC236}">
                    <a16:creationId xmlns:a16="http://schemas.microsoft.com/office/drawing/2014/main" id="{4B43711C-98A0-649B-02FB-95012EDCD9EA}"/>
                  </a:ext>
                </a:extLst>
              </p:cNvPr>
              <p:cNvSpPr/>
              <p:nvPr/>
            </p:nvSpPr>
            <p:spPr>
              <a:xfrm rot="16200000">
                <a:off x="4201516" y="2791144"/>
                <a:ext cx="253608" cy="1582680"/>
              </a:xfrm>
              <a:prstGeom prst="leftBrac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288000"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9C825E-6837-7BEE-25FC-6288C56B0512}"/>
                  </a:ext>
                </a:extLst>
              </p:cNvPr>
              <p:cNvSpPr txBox="1"/>
              <p:nvPr/>
            </p:nvSpPr>
            <p:spPr>
              <a:xfrm>
                <a:off x="2482302" y="3646287"/>
                <a:ext cx="36407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6">
                        <a:lumMod val="75000"/>
                      </a:schemeClr>
                    </a:solidFill>
                  </a:rPr>
                  <a:t>The name of the function to be called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D7845A-42A8-3CB0-CFFB-64E268848B08}"/>
                  </a:ext>
                </a:extLst>
              </p:cNvPr>
              <p:cNvSpPr txBox="1"/>
              <p:nvPr/>
            </p:nvSpPr>
            <p:spPr>
              <a:xfrm>
                <a:off x="4668217" y="2336731"/>
                <a:ext cx="2480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2">
                        <a:lumMod val="75000"/>
                      </a:schemeClr>
                    </a:solidFill>
                  </a:rPr>
                  <a:t>The input of the function</a:t>
                </a:r>
              </a:p>
            </p:txBody>
          </p:sp>
          <p:sp>
            <p:nvSpPr>
              <p:cNvPr id="11" name="Left Brace 10">
                <a:extLst>
                  <a:ext uri="{FF2B5EF4-FFF2-40B4-BE49-F238E27FC236}">
                    <a16:creationId xmlns:a16="http://schemas.microsoft.com/office/drawing/2014/main" id="{1C91CADD-4CC6-0D9C-7FB1-490159A90A08}"/>
                  </a:ext>
                </a:extLst>
              </p:cNvPr>
              <p:cNvSpPr/>
              <p:nvPr/>
            </p:nvSpPr>
            <p:spPr>
              <a:xfrm rot="5400000">
                <a:off x="2291496" y="2105020"/>
                <a:ext cx="253608" cy="1582680"/>
              </a:xfrm>
              <a:prstGeom prst="leftBrac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288000" rtlCol="0" anchor="ctr"/>
              <a:lstStyle/>
              <a:p>
                <a:pPr algn="ctr"/>
                <a:endParaRPr lang="en-GB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BF09B3-95A5-FD77-E3EA-92F4D2054AF5}"/>
                  </a:ext>
                </a:extLst>
              </p:cNvPr>
              <p:cNvSpPr txBox="1"/>
              <p:nvPr/>
            </p:nvSpPr>
            <p:spPr>
              <a:xfrm>
                <a:off x="1137229" y="2107344"/>
                <a:ext cx="28643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7030A0"/>
                    </a:solidFill>
                  </a:rPr>
                  <a:t>Unpacking returned value into 2 variables</a:t>
                </a:r>
              </a:p>
            </p:txBody>
          </p:sp>
        </p:grpSp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FD713C85-ADF3-5AA1-3B87-BF075C1AC1BB}"/>
                </a:ext>
              </a:extLst>
            </p:cNvPr>
            <p:cNvSpPr/>
            <p:nvPr/>
          </p:nvSpPr>
          <p:spPr>
            <a:xfrm rot="5400000">
              <a:off x="5581687" y="2260859"/>
              <a:ext cx="324067" cy="1248122"/>
            </a:xfrm>
            <a:prstGeom prst="leftBrac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288000" rtlCol="0" anchor="ctr"/>
            <a:lstStyle/>
            <a:p>
              <a:pPr algn="ctr"/>
              <a:endParaRPr lang="en-GB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3" name="矩形 8">
            <a:extLst>
              <a:ext uri="{FF2B5EF4-FFF2-40B4-BE49-F238E27FC236}">
                <a16:creationId xmlns:a16="http://schemas.microsoft.com/office/drawing/2014/main" id="{096C8B32-A16D-1871-783A-E61DC373BF43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830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Index of maximum and minimum element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9FC1BE-1022-F942-F15A-D7F1D48F9D60}"/>
              </a:ext>
            </a:extLst>
          </p:cNvPr>
          <p:cNvSpPr txBox="1">
            <a:spLocks/>
          </p:cNvSpPr>
          <p:nvPr/>
        </p:nvSpPr>
        <p:spPr>
          <a:xfrm>
            <a:off x="539557" y="1469449"/>
            <a:ext cx="9798761" cy="168750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dirty="0"/>
              <a:t>The “</a:t>
            </a:r>
            <a:r>
              <a:rPr lang="en-GB" dirty="0">
                <a:latin typeface="Consolas" panose="020B0609020204030204" pitchFamily="49" charset="0"/>
              </a:rPr>
              <a:t>max</a:t>
            </a:r>
            <a:r>
              <a:rPr lang="en-GB" dirty="0"/>
              <a:t>” and “</a:t>
            </a:r>
            <a:r>
              <a:rPr lang="en-GB" dirty="0">
                <a:latin typeface="Consolas" panose="020B0609020204030204" pitchFamily="49" charset="0"/>
              </a:rPr>
              <a:t>min</a:t>
            </a:r>
            <a:r>
              <a:rPr lang="en-GB" dirty="0"/>
              <a:t>” functions are two functions that return multiple values.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“</a:t>
            </a:r>
            <a:r>
              <a:rPr lang="en-GB" dirty="0">
                <a:latin typeface="Consolas" panose="020B0609020204030204" pitchFamily="49" charset="0"/>
              </a:rPr>
              <a:t>max</a:t>
            </a:r>
            <a:r>
              <a:rPr lang="en-GB" dirty="0"/>
              <a:t>” returns the value of the maximum element </a:t>
            </a:r>
            <a:r>
              <a:rPr lang="en-GB" u="sng" dirty="0"/>
              <a:t>and its index</a:t>
            </a:r>
            <a:r>
              <a:rPr lang="en-GB" dirty="0"/>
              <a:t>.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“</a:t>
            </a:r>
            <a:r>
              <a:rPr lang="en-GB" dirty="0">
                <a:latin typeface="Consolas" panose="020B0609020204030204" pitchFamily="49" charset="0"/>
              </a:rPr>
              <a:t>min</a:t>
            </a:r>
            <a:r>
              <a:rPr lang="en-GB" dirty="0"/>
              <a:t>” returns the value of the minimum element </a:t>
            </a:r>
            <a:r>
              <a:rPr lang="en-GB" u="sng" dirty="0"/>
              <a:t>and its index</a:t>
            </a:r>
            <a:r>
              <a:rPr lang="en-GB" dirty="0"/>
              <a:t>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8A24C9-4421-B636-2BAA-F274B42DB20E}"/>
              </a:ext>
            </a:extLst>
          </p:cNvPr>
          <p:cNvGrpSpPr/>
          <p:nvPr/>
        </p:nvGrpSpPr>
        <p:grpSpPr>
          <a:xfrm>
            <a:off x="2005259" y="3167960"/>
            <a:ext cx="7520585" cy="3574104"/>
            <a:chOff x="985173" y="2416846"/>
            <a:chExt cx="7520585" cy="35741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A6B1587-98D3-50C2-847B-14B38AB5DB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90"/>
            <a:stretch/>
          </p:blipFill>
          <p:spPr>
            <a:xfrm>
              <a:off x="2870805" y="2416846"/>
              <a:ext cx="3402390" cy="106694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87B742D-00DC-74B4-7545-10E70BC70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5173" y="3722826"/>
              <a:ext cx="2767778" cy="48987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AA9682B-5105-2B33-AB9F-7D205526F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38085" y="4377510"/>
              <a:ext cx="1008400" cy="161344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DE059C4-8EC6-9576-A799-CFA2A27F6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27856" y="3722826"/>
              <a:ext cx="2977902" cy="48987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D3D9CB2-71AF-7147-7E79-8D5DD96C6E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214"/>
            <a:stretch/>
          </p:blipFill>
          <p:spPr>
            <a:xfrm>
              <a:off x="6273194" y="4377510"/>
              <a:ext cx="819843" cy="161344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10" name="矩形 8">
            <a:extLst>
              <a:ext uri="{FF2B5EF4-FFF2-40B4-BE49-F238E27FC236}">
                <a16:creationId xmlns:a16="http://schemas.microsoft.com/office/drawing/2014/main" id="{537AAF8F-2B02-5F17-A815-06F06CEFA848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106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6436144" cy="888786"/>
          </a:xfrm>
        </p:spPr>
        <p:txBody>
          <a:bodyPr/>
          <a:lstStyle/>
          <a:p>
            <a:r>
              <a:rPr lang="en-GB" dirty="0"/>
              <a:t>Sum, mean, median, and standard deviation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537AAF8F-2B02-5F17-A815-06F06CEFA848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B407E08-6958-683B-B18A-5A782FFACA7E}"/>
              </a:ext>
            </a:extLst>
          </p:cNvPr>
          <p:cNvSpPr txBox="1">
            <a:spLocks/>
          </p:cNvSpPr>
          <p:nvPr/>
        </p:nvSpPr>
        <p:spPr>
          <a:xfrm>
            <a:off x="539558" y="1646735"/>
            <a:ext cx="9378884" cy="22348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MATLAB has built-in functions that provide the sum, mean, median, and standard deviation of the input matrix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By default, these operate along columns.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2DAA0C-A2E8-17E1-9311-3BA9083FAB46}"/>
              </a:ext>
            </a:extLst>
          </p:cNvPr>
          <p:cNvGrpSpPr/>
          <p:nvPr/>
        </p:nvGrpSpPr>
        <p:grpSpPr>
          <a:xfrm>
            <a:off x="1926236" y="3240667"/>
            <a:ext cx="7202938" cy="2944876"/>
            <a:chOff x="1067822" y="2619533"/>
            <a:chExt cx="7202938" cy="294487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69158AA-4F01-BDC4-CCE0-9350419966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90"/>
            <a:stretch/>
          </p:blipFill>
          <p:spPr>
            <a:xfrm>
              <a:off x="2269537" y="2619533"/>
              <a:ext cx="4068786" cy="127592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2E9A6E5-E033-220D-2A5F-38C99808CC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7895"/>
            <a:stretch/>
          </p:blipFill>
          <p:spPr>
            <a:xfrm>
              <a:off x="2911659" y="4282555"/>
              <a:ext cx="1324529" cy="127592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18DAD4D-37E0-8F25-9B29-25B1921597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659" b="8559"/>
            <a:stretch/>
          </p:blipFill>
          <p:spPr>
            <a:xfrm>
              <a:off x="4748953" y="4282554"/>
              <a:ext cx="1770244" cy="128185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044A963-2E5D-4FD3-3D75-5B5A8E0865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034" b="5140"/>
            <a:stretch/>
          </p:blipFill>
          <p:spPr>
            <a:xfrm>
              <a:off x="6900553" y="4282554"/>
              <a:ext cx="1370207" cy="127592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F35DC75-D651-2BF1-98DA-1FD7D95304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3987"/>
            <a:stretch/>
          </p:blipFill>
          <p:spPr>
            <a:xfrm>
              <a:off x="1067822" y="4282556"/>
              <a:ext cx="1201715" cy="127592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408703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6884233" cy="888786"/>
          </a:xfrm>
        </p:spPr>
        <p:txBody>
          <a:bodyPr/>
          <a:lstStyle/>
          <a:p>
            <a:r>
              <a:rPr lang="en-GB" dirty="0"/>
              <a:t>Rounding floating point numbers to integers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537AAF8F-2B02-5F17-A815-06F06CEFA848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B407E08-6958-683B-B18A-5A782FFACA7E}"/>
              </a:ext>
            </a:extLst>
          </p:cNvPr>
          <p:cNvSpPr txBox="1">
            <a:spLocks/>
          </p:cNvSpPr>
          <p:nvPr/>
        </p:nvSpPr>
        <p:spPr>
          <a:xfrm>
            <a:off x="539557" y="1646735"/>
            <a:ext cx="11280839" cy="22348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built-in “</a:t>
            </a:r>
            <a:r>
              <a:rPr lang="en-GB" dirty="0">
                <a:latin typeface="Consolas" panose="020B0609020204030204" pitchFamily="49" charset="0"/>
              </a:rPr>
              <a:t>round</a:t>
            </a:r>
            <a:r>
              <a:rPr lang="en-GB" dirty="0"/>
              <a:t>” function rounds the input to the nearest integer.</a:t>
            </a:r>
          </a:p>
          <a:p>
            <a:r>
              <a:rPr lang="en-GB" dirty="0"/>
              <a:t>The built-in “</a:t>
            </a:r>
            <a:r>
              <a:rPr lang="en-GB" dirty="0">
                <a:latin typeface="Consolas" panose="020B0609020204030204" pitchFamily="49" charset="0"/>
              </a:rPr>
              <a:t>ceil</a:t>
            </a:r>
            <a:r>
              <a:rPr lang="en-GB" dirty="0"/>
              <a:t>” function rounds up to the nearest integer.</a:t>
            </a:r>
          </a:p>
          <a:p>
            <a:r>
              <a:rPr lang="en-GB" dirty="0"/>
              <a:t>The built-in “</a:t>
            </a:r>
            <a:r>
              <a:rPr lang="en-GB" dirty="0">
                <a:latin typeface="Consolas" panose="020B0609020204030204" pitchFamily="49" charset="0"/>
              </a:rPr>
              <a:t>floor</a:t>
            </a:r>
            <a:r>
              <a:rPr lang="en-GB" dirty="0"/>
              <a:t>” function rounds down to the nearest integer.</a:t>
            </a:r>
          </a:p>
          <a:p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CEC9DF-A9EE-AFAB-7319-FCB0258B6F24}"/>
              </a:ext>
            </a:extLst>
          </p:cNvPr>
          <p:cNvGrpSpPr/>
          <p:nvPr/>
        </p:nvGrpSpPr>
        <p:grpSpPr>
          <a:xfrm>
            <a:off x="1556774" y="3878195"/>
            <a:ext cx="7876695" cy="1603572"/>
            <a:chOff x="1469435" y="3641523"/>
            <a:chExt cx="7876695" cy="160357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11FF2A6-8A59-821A-5111-61DCC968E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9435" y="3644865"/>
              <a:ext cx="2170609" cy="160023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AFF89C-7AFF-CF65-F623-F87B003469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905" b="9822"/>
            <a:stretch/>
          </p:blipFill>
          <p:spPr>
            <a:xfrm>
              <a:off x="4354204" y="3641523"/>
              <a:ext cx="1807996" cy="160022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0B2E79A-BB83-4C35-32CC-6C6B36045A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-1" b="6179"/>
            <a:stretch/>
          </p:blipFill>
          <p:spPr>
            <a:xfrm>
              <a:off x="6954939" y="3644864"/>
              <a:ext cx="2391191" cy="160022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262073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Common arithmetic functions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537AAF8F-2B02-5F17-A815-06F06CEFA848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FCCA92B-DF8B-6D12-5920-724D8F9C62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8776495"/>
              </p:ext>
            </p:extLst>
          </p:nvPr>
        </p:nvGraphicFramePr>
        <p:xfrm>
          <a:off x="466531" y="1551940"/>
          <a:ext cx="11293667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012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9062655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size()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the length of each dimension of the input matrix as a vector.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723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4"/>
                        </a:rPr>
                        <a:t>length()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the number of elements of the input vector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2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5"/>
                        </a:rPr>
                        <a:t>max()</a:t>
                      </a:r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</a:t>
                      </a:r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6"/>
                        </a:rPr>
                        <a:t>min()</a:t>
                      </a:r>
                      <a:endParaRPr lang="en-GB"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the maximum and minimum entry as well as the index where the corresponding element can be found (by column for matrix).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3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7"/>
                        </a:rPr>
                        <a:t>round()</a:t>
                      </a:r>
                      <a:endParaRPr lang="en-GB"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Round the input to the nearest integer.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05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8"/>
                        </a:rPr>
                        <a:t>ceil() </a:t>
                      </a:r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</a:t>
                      </a:r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9"/>
                        </a:rPr>
                        <a:t>floor()</a:t>
                      </a:r>
                      <a:endParaRPr lang="en-GB"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Round the elements of the input up and down to the nearest integer.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900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10"/>
                        </a:rPr>
                        <a:t>mean() </a:t>
                      </a:r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</a:t>
                      </a:r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11"/>
                        </a:rPr>
                        <a:t>median()</a:t>
                      </a:r>
                      <a:endParaRPr lang="en-GB"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the mean and median of the input vector or matrix (by column for matrix).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24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12"/>
                        </a:rPr>
                        <a:t>std()</a:t>
                      </a:r>
                      <a:endParaRPr lang="en-GB"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the standard deviation of the input matrix.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411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i="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13"/>
                        </a:rPr>
                        <a:t>sum()</a:t>
                      </a:r>
                      <a:endParaRPr lang="en-GB" sz="20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the sum of the input matrix.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40419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33928B9-07A7-69CF-2FBA-AC71456619F0}"/>
              </a:ext>
            </a:extLst>
          </p:cNvPr>
          <p:cNvSpPr txBox="1"/>
          <p:nvPr/>
        </p:nvSpPr>
        <p:spPr>
          <a:xfrm>
            <a:off x="466531" y="5769445"/>
            <a:ext cx="8970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For most of these functions, a dimension along which to operate can be specified.</a:t>
            </a:r>
          </a:p>
        </p:txBody>
      </p:sp>
    </p:spTree>
    <p:extLst>
      <p:ext uri="{BB962C8B-B14F-4D97-AF65-F5344CB8AC3E}">
        <p14:creationId xmlns:p14="http://schemas.microsoft.com/office/powerpoint/2010/main" val="2653115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FC5384-119E-4922-A70F-CA918BA75F01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07A93FC8-8C20-4820-8F41-E260978C8B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4A53E5-B817-471C-9DB1-91B427C4FE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1908</TotalTime>
  <Words>536</Words>
  <Application>Microsoft Office PowerPoint</Application>
  <PresentationFormat>Widescreen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Times New Roman</vt:lpstr>
      <vt:lpstr>Office Theme</vt:lpstr>
      <vt:lpstr>Popular Built-in Functions (1) </vt:lpstr>
      <vt:lpstr>Built-in functions</vt:lpstr>
      <vt:lpstr>MATLAB datatype conversion</vt:lpstr>
      <vt:lpstr>Finding the largest and smallest elements in a matrix</vt:lpstr>
      <vt:lpstr>Return value unpacking</vt:lpstr>
      <vt:lpstr>Index of maximum and minimum element</vt:lpstr>
      <vt:lpstr>Sum, mean, median, and standard deviation</vt:lpstr>
      <vt:lpstr>Rounding floating point numbers to integers</vt:lpstr>
      <vt:lpstr>Thanks!</vt:lpstr>
      <vt:lpstr>Common arithmetic functions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Yushi Liu (PGR)</cp:lastModifiedBy>
  <cp:revision>79</cp:revision>
  <dcterms:created xsi:type="dcterms:W3CDTF">2021-01-06T14:22:07Z</dcterms:created>
  <dcterms:modified xsi:type="dcterms:W3CDTF">2024-06-23T01:14:55Z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