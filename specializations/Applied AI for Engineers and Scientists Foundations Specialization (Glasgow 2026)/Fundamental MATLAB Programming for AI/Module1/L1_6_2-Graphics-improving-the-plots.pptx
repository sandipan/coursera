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1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5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629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97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674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3240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612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44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24/06/2024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uk.mathworks.com/help/matlab/ref/plot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uk.mathworks.com/help/matlab/ref/mesh.html" TargetMode="External"/><Relationship Id="rId3" Type="http://schemas.openxmlformats.org/officeDocument/2006/relationships/hyperlink" Target="https://uk.mathworks.com/help/matlab/ref/loglog.html" TargetMode="External"/><Relationship Id="rId7" Type="http://schemas.openxmlformats.org/officeDocument/2006/relationships/hyperlink" Target="https://uk.mathworks.com/help/matlab/ref/surf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uk.mathworks.com/help/matlab/ref/matlab.graphics.chart.primitive.histogram.html" TargetMode="External"/><Relationship Id="rId5" Type="http://schemas.openxmlformats.org/officeDocument/2006/relationships/hyperlink" Target="https://uk.mathworks.com/help/matlab/ref/pie.html" TargetMode="External"/><Relationship Id="rId10" Type="http://schemas.openxmlformats.org/officeDocument/2006/relationships/hyperlink" Target="https://uk.mathworks.com/help/matlab/ref/movie.html" TargetMode="External"/><Relationship Id="rId4" Type="http://schemas.openxmlformats.org/officeDocument/2006/relationships/hyperlink" Target="https://uk.mathworks.com/help/matlab/ref/bar.html" TargetMode="External"/><Relationship Id="rId9" Type="http://schemas.openxmlformats.org/officeDocument/2006/relationships/hyperlink" Target="https://uk.mathworks.com/help/matlab/ref/contour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MATLAB Graphics: Improving the Plots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Subplots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628FEE9-8211-A993-A029-A827085A9857}"/>
              </a:ext>
            </a:extLst>
          </p:cNvPr>
          <p:cNvSpPr txBox="1">
            <a:spLocks/>
          </p:cNvSpPr>
          <p:nvPr/>
        </p:nvSpPr>
        <p:spPr>
          <a:xfrm>
            <a:off x="516682" y="1624807"/>
            <a:ext cx="10652060" cy="360838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Create subplots using the “</a:t>
            </a:r>
            <a:r>
              <a:rPr lang="en-GB" dirty="0" err="1">
                <a:latin typeface="Consolas" panose="020B0609020204030204" pitchFamily="49" charset="0"/>
              </a:rPr>
              <a:t>tiledlayout</a:t>
            </a:r>
            <a:r>
              <a:rPr lang="en-GB" dirty="0">
                <a:latin typeface="Consolas" panose="020B0609020204030204" pitchFamily="49" charset="0"/>
              </a:rPr>
              <a:t>(m, n)” </a:t>
            </a:r>
            <a:r>
              <a:rPr lang="en-GB" dirty="0"/>
              <a:t>function:</a:t>
            </a:r>
          </a:p>
          <a:p>
            <a:pPr lvl="1"/>
            <a:r>
              <a:rPr lang="en-GB" i="1" dirty="0"/>
              <a:t>m</a:t>
            </a:r>
            <a:r>
              <a:rPr lang="en-GB" dirty="0"/>
              <a:t>: number of rows.</a:t>
            </a:r>
          </a:p>
          <a:p>
            <a:pPr lvl="1"/>
            <a:r>
              <a:rPr lang="en-GB" i="1" dirty="0"/>
              <a:t>n</a:t>
            </a:r>
            <a:r>
              <a:rPr lang="en-GB" dirty="0"/>
              <a:t>: number of columns.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Use the command “</a:t>
            </a:r>
            <a:r>
              <a:rPr lang="en-GB" dirty="0" err="1">
                <a:latin typeface="Consolas" panose="020B0609020204030204" pitchFamily="49" charset="0"/>
              </a:rPr>
              <a:t>nexttile</a:t>
            </a:r>
            <a:r>
              <a:rPr lang="en-GB" dirty="0">
                <a:latin typeface="+mj-lt"/>
              </a:rPr>
              <a:t>” </a:t>
            </a:r>
            <a:r>
              <a:rPr lang="en-GB" dirty="0"/>
              <a:t>to activate the next tile</a:t>
            </a:r>
          </a:p>
          <a:p>
            <a:pPr lvl="1"/>
            <a:r>
              <a:rPr lang="en-GB" dirty="0"/>
              <a:t>Any new plots will be placed onto the next tile.</a:t>
            </a:r>
          </a:p>
          <a:p>
            <a:pPr marL="0" indent="0">
              <a:spcBef>
                <a:spcPts val="3000"/>
              </a:spcBef>
              <a:buFont typeface="Arial" panose="020B0604020202020204" pitchFamily="34" charset="0"/>
              <a:buNone/>
            </a:pPr>
            <a:r>
              <a:rPr lang="en-GB" dirty="0"/>
              <a:t>Example: an object falling under gravity, creating the data: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latin typeface="+mj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GB" i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63AF716-7D61-3708-832B-CE00980EB1F6}"/>
              </a:ext>
            </a:extLst>
          </p:cNvPr>
          <p:cNvSpPr/>
          <p:nvPr/>
        </p:nvSpPr>
        <p:spPr>
          <a:xfrm>
            <a:off x="592688" y="4503051"/>
            <a:ext cx="8327377" cy="1460284"/>
          </a:xfrm>
          <a:prstGeom prst="roundRect">
            <a:avLst>
              <a:gd name="adj" fmla="val 9492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time = </a:t>
            </a:r>
            <a:r>
              <a:rPr lang="en-GB" sz="1600" dirty="0" err="1">
                <a:solidFill>
                  <a:srgbClr val="212121"/>
                </a:solidFill>
                <a:latin typeface="Consolas" panose="020B0609020204030204" pitchFamily="49" charset="0"/>
              </a:rPr>
              <a:t>linspace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(0, 10, 21);</a:t>
            </a:r>
          </a:p>
          <a:p>
            <a:pPr marL="0" lvl="1"/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acceleration = 9.81 * ones(1, 21); </a:t>
            </a:r>
            <a:r>
              <a:rPr lang="en-GB" sz="1600" dirty="0">
                <a:solidFill>
                  <a:srgbClr val="008013"/>
                </a:solidFill>
                <a:latin typeface="Consolas" panose="020B0609020204030204" pitchFamily="49" charset="0"/>
              </a:rPr>
              <a:t>% a = 9.81 m/s^2 (gravity)</a:t>
            </a:r>
            <a:endParaRPr lang="en-GB" sz="1600" dirty="0">
              <a:solidFill>
                <a:srgbClr val="212121"/>
              </a:solidFill>
              <a:latin typeface="Consolas" panose="020B0609020204030204" pitchFamily="49" charset="0"/>
            </a:endParaRPr>
          </a:p>
          <a:p>
            <a:pPr marL="0" lvl="1" indent="0">
              <a:buNone/>
            </a:pP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velocity = acceleration .* time; </a:t>
            </a:r>
            <a:r>
              <a:rPr lang="en-GB" sz="1600" dirty="0">
                <a:solidFill>
                  <a:srgbClr val="008013"/>
                </a:solidFill>
                <a:latin typeface="Consolas" panose="020B0609020204030204" pitchFamily="49" charset="0"/>
              </a:rPr>
              <a:t>% v = a*t</a:t>
            </a:r>
            <a:endParaRPr lang="en-GB" sz="1600" dirty="0">
              <a:solidFill>
                <a:srgbClr val="212121"/>
              </a:solidFill>
              <a:latin typeface="Consolas" panose="020B0609020204030204" pitchFamily="49" charset="0"/>
            </a:endParaRPr>
          </a:p>
          <a:p>
            <a:pPr marL="0" lvl="1" indent="0">
              <a:buNone/>
            </a:pP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displacement = 0.5 * acceleration .* (time.^2); </a:t>
            </a:r>
            <a:r>
              <a:rPr lang="en-GB" sz="1600" dirty="0">
                <a:solidFill>
                  <a:srgbClr val="008013"/>
                </a:solidFill>
                <a:latin typeface="Consolas" panose="020B0609020204030204" pitchFamily="49" charset="0"/>
              </a:rPr>
              <a:t>% s = 0.5*a*t^2</a:t>
            </a:r>
          </a:p>
          <a:p>
            <a:pPr marL="0" lvl="1" indent="0">
              <a:buNone/>
            </a:pPr>
            <a:endParaRPr lang="en-GB" sz="1600" dirty="0">
              <a:solidFill>
                <a:srgbClr val="008013"/>
              </a:solidFill>
              <a:latin typeface="Consolas" panose="020B0609020204030204" pitchFamily="49" charset="0"/>
            </a:endParaRPr>
          </a:p>
          <a:p>
            <a:pPr marL="0" lvl="1" indent="0">
              <a:buNone/>
            </a:pPr>
            <a:r>
              <a:rPr lang="en-GB" sz="1600" dirty="0" err="1">
                <a:solidFill>
                  <a:schemeClr val="tx2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tiledlayout</a:t>
            </a:r>
            <a:r>
              <a:rPr lang="en-GB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(1,3)</a:t>
            </a:r>
            <a:r>
              <a:rPr lang="en-GB" sz="1600" dirty="0">
                <a:solidFill>
                  <a:srgbClr val="008013"/>
                </a:solidFill>
                <a:latin typeface="Consolas" panose="020B0609020204030204" pitchFamily="49" charset="0"/>
              </a:rPr>
              <a:t> % creates empty plot, with 1 row and 3 columns</a:t>
            </a:r>
            <a:endParaRPr lang="en-GB" sz="1600" dirty="0">
              <a:solidFill>
                <a:srgbClr val="21212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矩形 8">
            <a:extLst>
              <a:ext uri="{FF2B5EF4-FFF2-40B4-BE49-F238E27FC236}">
                <a16:creationId xmlns:a16="http://schemas.microsoft.com/office/drawing/2014/main" id="{C4D979D9-51D8-7DE0-8B78-EC733104A4AB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Example Subplots - 1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Picture 1" descr="Chart, box and whisker chart&#10;&#10;Description automatically generated">
            <a:extLst>
              <a:ext uri="{FF2B5EF4-FFF2-40B4-BE49-F238E27FC236}">
                <a16:creationId xmlns:a16="http://schemas.microsoft.com/office/drawing/2014/main" id="{F7945FB3-0925-3B82-0028-161C565B9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167" y="2200304"/>
            <a:ext cx="5130769" cy="38480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903746-609C-70F3-F3B4-EA6E9BC005E7}"/>
              </a:ext>
            </a:extLst>
          </p:cNvPr>
          <p:cNvSpPr txBox="1"/>
          <p:nvPr/>
        </p:nvSpPr>
        <p:spPr>
          <a:xfrm>
            <a:off x="536465" y="1647496"/>
            <a:ext cx="5559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Plotting acceleration on the first subplot</a:t>
            </a:r>
          </a:p>
        </p:txBody>
      </p:sp>
      <p:sp>
        <p:nvSpPr>
          <p:cNvPr id="4" name="矩形 8">
            <a:extLst>
              <a:ext uri="{FF2B5EF4-FFF2-40B4-BE49-F238E27FC236}">
                <a16:creationId xmlns:a16="http://schemas.microsoft.com/office/drawing/2014/main" id="{8024DDD7-40FD-C6A0-A2CD-F8501C8E4699}"/>
              </a:ext>
            </a:extLst>
          </p:cNvPr>
          <p:cNvSpPr/>
          <p:nvPr/>
        </p:nvSpPr>
        <p:spPr>
          <a:xfrm>
            <a:off x="10039741" y="6169679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157CA6-EF79-E373-464C-37A5D742E632}"/>
              </a:ext>
            </a:extLst>
          </p:cNvPr>
          <p:cNvSpPr/>
          <p:nvPr/>
        </p:nvSpPr>
        <p:spPr>
          <a:xfrm>
            <a:off x="753806" y="2287602"/>
            <a:ext cx="4380756" cy="1691333"/>
          </a:xfrm>
          <a:prstGeom prst="roundRect">
            <a:avLst>
              <a:gd name="adj" fmla="val 9492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err="1">
                <a:solidFill>
                  <a:srgbClr val="212121"/>
                </a:solidFill>
                <a:latin typeface="Consolas" panose="020B0609020204030204" pitchFamily="49" charset="0"/>
              </a:rPr>
              <a:t>nexttile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8013"/>
                </a:solidFill>
                <a:latin typeface="Consolas" panose="020B0609020204030204" pitchFamily="49" charset="0"/>
              </a:rPr>
              <a:t>% switch to first tile </a:t>
            </a:r>
            <a:endParaRPr lang="en-GB" sz="1600" dirty="0">
              <a:solidFill>
                <a:srgbClr val="212121"/>
              </a:solidFill>
              <a:latin typeface="Consolas" panose="020B0609020204030204" pitchFamily="49" charset="0"/>
            </a:endParaRPr>
          </a:p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plot(time, acceleration)</a:t>
            </a:r>
          </a:p>
          <a:p>
            <a:r>
              <a:rPr lang="en-GB" sz="1600" dirty="0" err="1">
                <a:solidFill>
                  <a:srgbClr val="212121"/>
                </a:solidFill>
                <a:latin typeface="Consolas" panose="020B0609020204030204" pitchFamily="49" charset="0"/>
              </a:rPr>
              <a:t>xlabel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"time"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 err="1">
                <a:solidFill>
                  <a:srgbClr val="212121"/>
                </a:solidFill>
                <a:latin typeface="Consolas" panose="020B0609020204030204" pitchFamily="49" charset="0"/>
              </a:rPr>
              <a:t>ylabel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"Acceleration (m/s^2)"</a:t>
            </a:r>
            <a:r>
              <a:rPr lang="en-GB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title(</a:t>
            </a:r>
            <a:r>
              <a:rPr lang="en-GB" sz="1600" dirty="0">
                <a:solidFill>
                  <a:srgbClr val="A020F0"/>
                </a:solidFill>
                <a:latin typeface="Consolas" panose="020B0609020204030204" pitchFamily="49" charset="0"/>
              </a:rPr>
              <a:t>"Ac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cele</a:t>
            </a:r>
            <a:r>
              <a:rPr lang="en-GB" sz="1600" dirty="0">
                <a:solidFill>
                  <a:srgbClr val="A020F0"/>
                </a:solidFill>
                <a:latin typeface="Consolas" panose="020B0609020204030204" pitchFamily="49" charset="0"/>
              </a:rPr>
              <a:t>ration"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)</a:t>
            </a:r>
            <a:b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</a:b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grid()</a:t>
            </a:r>
          </a:p>
        </p:txBody>
      </p:sp>
    </p:spTree>
    <p:extLst>
      <p:ext uri="{BB962C8B-B14F-4D97-AF65-F5344CB8AC3E}">
        <p14:creationId xmlns:p14="http://schemas.microsoft.com/office/powerpoint/2010/main" val="1357229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Example Subplots - 2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Picture 1" descr="Chart, line chart&#10;&#10;Description automatically generated">
            <a:extLst>
              <a:ext uri="{FF2B5EF4-FFF2-40B4-BE49-F238E27FC236}">
                <a16:creationId xmlns:a16="http://schemas.microsoft.com/office/drawing/2014/main" id="{80C6B254-59C4-6780-2AA0-12BC30F1AB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9362" y="2198389"/>
            <a:ext cx="5166606" cy="38749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6A0BA3-4DEC-8219-F75B-120C057BD37E}"/>
              </a:ext>
            </a:extLst>
          </p:cNvPr>
          <p:cNvSpPr txBox="1"/>
          <p:nvPr/>
        </p:nvSpPr>
        <p:spPr>
          <a:xfrm>
            <a:off x="536465" y="1647496"/>
            <a:ext cx="5559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Plotting velocity on the second subplot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400B82-E3A1-0265-9D7D-8FB0BD8A7B6D}"/>
              </a:ext>
            </a:extLst>
          </p:cNvPr>
          <p:cNvSpPr/>
          <p:nvPr/>
        </p:nvSpPr>
        <p:spPr>
          <a:xfrm>
            <a:off x="753806" y="2287602"/>
            <a:ext cx="4380756" cy="1691333"/>
          </a:xfrm>
          <a:prstGeom prst="roundRect">
            <a:avLst>
              <a:gd name="adj" fmla="val 9492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err="1">
                <a:solidFill>
                  <a:srgbClr val="212121"/>
                </a:solidFill>
                <a:latin typeface="Consolas" panose="020B0609020204030204" pitchFamily="49" charset="0"/>
              </a:rPr>
              <a:t>nexttile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8013"/>
                </a:solidFill>
                <a:latin typeface="Consolas" panose="020B0609020204030204" pitchFamily="49" charset="0"/>
              </a:rPr>
              <a:t>% switch to next tile </a:t>
            </a:r>
          </a:p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plot(time, velocity)</a:t>
            </a:r>
          </a:p>
          <a:p>
            <a:r>
              <a:rPr lang="en-GB" sz="1600" dirty="0" err="1">
                <a:solidFill>
                  <a:srgbClr val="212121"/>
                </a:solidFill>
                <a:latin typeface="Consolas" panose="020B0609020204030204" pitchFamily="49" charset="0"/>
              </a:rPr>
              <a:t>xlabel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020F0"/>
                </a:solidFill>
                <a:latin typeface="Consolas" panose="020B0609020204030204" pitchFamily="49" charset="0"/>
              </a:rPr>
              <a:t>"time"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 err="1">
                <a:solidFill>
                  <a:srgbClr val="212121"/>
                </a:solidFill>
                <a:latin typeface="Consolas" panose="020B0609020204030204" pitchFamily="49" charset="0"/>
              </a:rPr>
              <a:t>ylabel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020F0"/>
                </a:solidFill>
                <a:latin typeface="Consolas" panose="020B0609020204030204" pitchFamily="49" charset="0"/>
              </a:rPr>
              <a:t>"Velocity (m/s)"</a:t>
            </a:r>
            <a:r>
              <a:rPr lang="en-GB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title(</a:t>
            </a:r>
            <a:r>
              <a:rPr lang="en-GB" sz="1600" dirty="0">
                <a:solidFill>
                  <a:srgbClr val="A020F0"/>
                </a:solidFill>
                <a:latin typeface="Consolas" panose="020B0609020204030204" pitchFamily="49" charset="0"/>
              </a:rPr>
              <a:t>"Velocity"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grid()</a:t>
            </a:r>
          </a:p>
        </p:txBody>
      </p:sp>
      <p:sp>
        <p:nvSpPr>
          <p:cNvPr id="3" name="矩形 8">
            <a:extLst>
              <a:ext uri="{FF2B5EF4-FFF2-40B4-BE49-F238E27FC236}">
                <a16:creationId xmlns:a16="http://schemas.microsoft.com/office/drawing/2014/main" id="{B7D7297A-82F7-1A27-0B5B-5DD38B9D8BEE}"/>
              </a:ext>
            </a:extLst>
          </p:cNvPr>
          <p:cNvSpPr/>
          <p:nvPr/>
        </p:nvSpPr>
        <p:spPr>
          <a:xfrm>
            <a:off x="10039741" y="6169679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246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Example Subplots - 3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" name="Picture 2" descr="Chart, line chart&#10;&#10;Description automatically generated">
            <a:extLst>
              <a:ext uri="{FF2B5EF4-FFF2-40B4-BE49-F238E27FC236}">
                <a16:creationId xmlns:a16="http://schemas.microsoft.com/office/drawing/2014/main" id="{63E06970-AB73-1D4C-7999-FF5A2CBB8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185" y="2198390"/>
            <a:ext cx="5132330" cy="38492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41F144-91FE-7342-0DE1-0655719CA082}"/>
              </a:ext>
            </a:extLst>
          </p:cNvPr>
          <p:cNvSpPr txBox="1"/>
          <p:nvPr/>
        </p:nvSpPr>
        <p:spPr>
          <a:xfrm>
            <a:off x="536465" y="1647496"/>
            <a:ext cx="5064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Plotting position on the third subplot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F87C9F-0CAF-724E-8C64-A2DE359B00E1}"/>
              </a:ext>
            </a:extLst>
          </p:cNvPr>
          <p:cNvSpPr/>
          <p:nvPr/>
        </p:nvSpPr>
        <p:spPr>
          <a:xfrm>
            <a:off x="753806" y="2287602"/>
            <a:ext cx="4380756" cy="1691333"/>
          </a:xfrm>
          <a:prstGeom prst="roundRect">
            <a:avLst>
              <a:gd name="adj" fmla="val 9492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err="1">
                <a:solidFill>
                  <a:srgbClr val="212121"/>
                </a:solidFill>
                <a:latin typeface="Consolas" panose="020B0609020204030204" pitchFamily="49" charset="0"/>
              </a:rPr>
              <a:t>nexttile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 </a:t>
            </a:r>
            <a:r>
              <a:rPr lang="en-GB" sz="1600" dirty="0">
                <a:solidFill>
                  <a:srgbClr val="008013"/>
                </a:solidFill>
                <a:latin typeface="Consolas" panose="020B0609020204030204" pitchFamily="49" charset="0"/>
              </a:rPr>
              <a:t>% switch to next tile </a:t>
            </a:r>
          </a:p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plot(time, displacement)</a:t>
            </a:r>
          </a:p>
          <a:p>
            <a:r>
              <a:rPr lang="en-GB" sz="1600" dirty="0" err="1">
                <a:solidFill>
                  <a:srgbClr val="212121"/>
                </a:solidFill>
                <a:latin typeface="Consolas" panose="020B0609020204030204" pitchFamily="49" charset="0"/>
              </a:rPr>
              <a:t>xlabel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"time"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 err="1">
                <a:solidFill>
                  <a:srgbClr val="212121"/>
                </a:solidFill>
                <a:latin typeface="Consolas" panose="020B0609020204030204" pitchFamily="49" charset="0"/>
              </a:rPr>
              <a:t>ylabel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(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"Displacement (m)"</a:t>
            </a:r>
            <a:r>
              <a:rPr lang="en-GB" sz="1600" dirty="0">
                <a:solidFill>
                  <a:schemeClr val="tx2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title(</a:t>
            </a:r>
            <a:r>
              <a:rPr lang="en-GB" sz="1600" dirty="0">
                <a:solidFill>
                  <a:srgbClr val="A709F5"/>
                </a:solidFill>
                <a:latin typeface="Consolas" panose="020B0609020204030204" pitchFamily="49" charset="0"/>
              </a:rPr>
              <a:t>"Displacement"</a:t>
            </a:r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grid()</a:t>
            </a: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CCEB9102-6785-A404-8BE6-3B3815D8D1FA}"/>
              </a:ext>
            </a:extLst>
          </p:cNvPr>
          <p:cNvSpPr/>
          <p:nvPr/>
        </p:nvSpPr>
        <p:spPr>
          <a:xfrm>
            <a:off x="10039741" y="6169679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2188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Plotting options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04646-0A20-9606-39B7-AE2AECB4D0BC}"/>
              </a:ext>
            </a:extLst>
          </p:cNvPr>
          <p:cNvSpPr txBox="1">
            <a:spLocks/>
          </p:cNvSpPr>
          <p:nvPr/>
        </p:nvSpPr>
        <p:spPr>
          <a:xfrm>
            <a:off x="552410" y="1539689"/>
            <a:ext cx="10782033" cy="520679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MATLAB allows </a:t>
            </a:r>
            <a:r>
              <a:rPr lang="en-GB" dirty="0">
                <a:hlinkClick r:id="rId3"/>
              </a:rPr>
              <a:t>customization</a:t>
            </a:r>
            <a:r>
              <a:rPr lang="en-GB" dirty="0"/>
              <a:t> of all aspects of the plot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Dashed line: </a:t>
            </a:r>
            <a:r>
              <a:rPr lang="en-GB" dirty="0">
                <a:latin typeface="Consolas" panose="020B0609020204030204" pitchFamily="49" charset="0"/>
              </a:rPr>
              <a:t>plot(</a:t>
            </a:r>
            <a:r>
              <a:rPr lang="en-GB" dirty="0" err="1">
                <a:latin typeface="Consolas" panose="020B0609020204030204" pitchFamily="49" charset="0"/>
              </a:rPr>
              <a:t>x_data</a:t>
            </a:r>
            <a:r>
              <a:rPr lang="en-GB" dirty="0">
                <a:latin typeface="Consolas" panose="020B0609020204030204" pitchFamily="49" charset="0"/>
              </a:rPr>
              <a:t>, </a:t>
            </a:r>
            <a:r>
              <a:rPr lang="en-GB" dirty="0" err="1">
                <a:latin typeface="Consolas" panose="020B0609020204030204" pitchFamily="49" charset="0"/>
              </a:rPr>
              <a:t>y_data</a:t>
            </a:r>
            <a:r>
              <a:rPr lang="en-GB" dirty="0">
                <a:latin typeface="Consolas" panose="020B0609020204030204" pitchFamily="49" charset="0"/>
              </a:rPr>
              <a:t>, </a:t>
            </a:r>
            <a:r>
              <a:rPr lang="en-GB" dirty="0">
                <a:solidFill>
                  <a:srgbClr val="A709F5"/>
                </a:solidFill>
                <a:latin typeface="Consolas" panose="020B0609020204030204" pitchFamily="49" charset="0"/>
              </a:rPr>
              <a:t>'--'</a:t>
            </a:r>
            <a:r>
              <a:rPr lang="en-GB" dirty="0">
                <a:latin typeface="Consolas" panose="020B0609020204030204" pitchFamily="49" charset="0"/>
              </a:rPr>
              <a:t>)</a:t>
            </a:r>
            <a:r>
              <a:rPr lang="en-GB" dirty="0">
                <a:latin typeface="+mj-lt"/>
              </a:rPr>
              <a:t>.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Red coloured line:</a:t>
            </a:r>
            <a:r>
              <a:rPr lang="en-GB" dirty="0">
                <a:latin typeface="+mj-lt"/>
              </a:rPr>
              <a:t> </a:t>
            </a:r>
            <a:r>
              <a:rPr lang="en-GB" dirty="0">
                <a:latin typeface="Consolas" panose="020B0609020204030204" pitchFamily="49" charset="0"/>
              </a:rPr>
              <a:t>plot(</a:t>
            </a:r>
            <a:r>
              <a:rPr lang="en-GB" dirty="0" err="1">
                <a:latin typeface="Consolas" panose="020B0609020204030204" pitchFamily="49" charset="0"/>
              </a:rPr>
              <a:t>x_data</a:t>
            </a:r>
            <a:r>
              <a:rPr lang="en-GB" dirty="0">
                <a:latin typeface="Consolas" panose="020B0609020204030204" pitchFamily="49" charset="0"/>
              </a:rPr>
              <a:t>, </a:t>
            </a:r>
            <a:r>
              <a:rPr lang="en-GB" dirty="0" err="1">
                <a:latin typeface="Consolas" panose="020B0609020204030204" pitchFamily="49" charset="0"/>
              </a:rPr>
              <a:t>y_data</a:t>
            </a:r>
            <a:r>
              <a:rPr lang="en-GB" dirty="0">
                <a:latin typeface="Consolas" panose="020B0609020204030204" pitchFamily="49" charset="0"/>
              </a:rPr>
              <a:t>, </a:t>
            </a:r>
            <a:r>
              <a:rPr lang="en-GB" dirty="0">
                <a:solidFill>
                  <a:srgbClr val="A709F5"/>
                </a:solidFill>
                <a:latin typeface="Consolas" panose="020B0609020204030204" pitchFamily="49" charset="0"/>
              </a:rPr>
              <a:t>'red'</a:t>
            </a:r>
            <a:r>
              <a:rPr lang="en-GB" dirty="0">
                <a:latin typeface="Consolas" panose="020B0609020204030204" pitchFamily="49" charset="0"/>
              </a:rPr>
              <a:t>)</a:t>
            </a:r>
            <a:r>
              <a:rPr lang="en-GB" dirty="0">
                <a:latin typeface="+mj-lt"/>
              </a:rPr>
              <a:t>.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Red and dashed line: </a:t>
            </a:r>
            <a:r>
              <a:rPr lang="en-GB" dirty="0">
                <a:latin typeface="Consolas" panose="020B0609020204030204" pitchFamily="49" charset="0"/>
              </a:rPr>
              <a:t>plot(</a:t>
            </a:r>
            <a:r>
              <a:rPr lang="en-GB" dirty="0" err="1">
                <a:latin typeface="Consolas" panose="020B0609020204030204" pitchFamily="49" charset="0"/>
              </a:rPr>
              <a:t>x_data</a:t>
            </a:r>
            <a:r>
              <a:rPr lang="en-GB" dirty="0">
                <a:latin typeface="Consolas" panose="020B0609020204030204" pitchFamily="49" charset="0"/>
              </a:rPr>
              <a:t>, </a:t>
            </a:r>
            <a:r>
              <a:rPr lang="en-GB" dirty="0" err="1">
                <a:latin typeface="Consolas" panose="020B0609020204030204" pitchFamily="49" charset="0"/>
              </a:rPr>
              <a:t>y_data</a:t>
            </a:r>
            <a:r>
              <a:rPr lang="en-GB" dirty="0">
                <a:latin typeface="Consolas" panose="020B0609020204030204" pitchFamily="49" charset="0"/>
              </a:rPr>
              <a:t>, </a:t>
            </a:r>
            <a:r>
              <a:rPr lang="en-GB" dirty="0">
                <a:solidFill>
                  <a:srgbClr val="A709F5"/>
                </a:solidFill>
                <a:latin typeface="Consolas" panose="020B0609020204030204" pitchFamily="49" charset="0"/>
              </a:rPr>
              <a:t>‘red--'</a:t>
            </a:r>
            <a:r>
              <a:rPr lang="en-GB" dirty="0">
                <a:latin typeface="Consolas" panose="020B0609020204030204" pitchFamily="49" charset="0"/>
              </a:rPr>
              <a:t>)</a:t>
            </a:r>
            <a:r>
              <a:rPr lang="en-GB" dirty="0">
                <a:latin typeface="+mj-lt"/>
              </a:rPr>
              <a:t>.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MATLAB can also recommend plots via “Plots” toolbar:</a:t>
            </a:r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/>
          </a:p>
          <a:p>
            <a:pPr marL="0" indent="0">
              <a:spcBef>
                <a:spcPts val="2400"/>
              </a:spcBef>
              <a:buFont typeface="Arial" panose="020B0604020202020204" pitchFamily="34" charset="0"/>
              <a:buNone/>
            </a:pPr>
            <a:r>
              <a:rPr lang="en-GB" dirty="0"/>
              <a:t>The easiest way to utilize this toolbar is by selecting the variables that are to be plotted in the workspace.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MATLAB will then recommend compatible plots.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CDB0940-CEFE-EFA5-DF73-F682E53A07FA}"/>
              </a:ext>
            </a:extLst>
          </p:cNvPr>
          <p:cNvGrpSpPr/>
          <p:nvPr/>
        </p:nvGrpSpPr>
        <p:grpSpPr>
          <a:xfrm>
            <a:off x="757797" y="3955143"/>
            <a:ext cx="8163658" cy="927216"/>
            <a:chOff x="628650" y="3222416"/>
            <a:chExt cx="8163658" cy="9272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6FF40DB-986D-D3C3-D2F3-0D9E4FCDD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650" y="3222416"/>
              <a:ext cx="8163658" cy="927216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4A393A2-8718-7D72-87BF-DC9162CCC5F0}"/>
                </a:ext>
              </a:extLst>
            </p:cNvPr>
            <p:cNvSpPr/>
            <p:nvPr/>
          </p:nvSpPr>
          <p:spPr>
            <a:xfrm>
              <a:off x="1284405" y="3222416"/>
              <a:ext cx="572778" cy="299063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92197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Example of Kepler's 3rd law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Picture 1" descr="Chart, line chart&#10;&#10;Description automatically generated">
            <a:extLst>
              <a:ext uri="{FF2B5EF4-FFF2-40B4-BE49-F238E27FC236}">
                <a16:creationId xmlns:a16="http://schemas.microsoft.com/office/drawing/2014/main" id="{BB87FFA8-5C05-2C1B-66B2-3207FD4F5E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679" y="1372817"/>
            <a:ext cx="6286716" cy="4981141"/>
          </a:xfrm>
          <a:prstGeom prst="rect">
            <a:avLst/>
          </a:prstGeom>
        </p:spPr>
      </p:pic>
      <p:sp>
        <p:nvSpPr>
          <p:cNvPr id="3" name="矩形 8">
            <a:extLst>
              <a:ext uri="{FF2B5EF4-FFF2-40B4-BE49-F238E27FC236}">
                <a16:creationId xmlns:a16="http://schemas.microsoft.com/office/drawing/2014/main" id="{9D5C5C59-E57F-1568-B1A3-10B83DC681DE}"/>
              </a:ext>
            </a:extLst>
          </p:cNvPr>
          <p:cNvSpPr/>
          <p:nvPr/>
        </p:nvSpPr>
        <p:spPr>
          <a:xfrm>
            <a:off x="9589713" y="6000877"/>
            <a:ext cx="1628414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case study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2999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Other plot types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2E79FD-5DD7-8CF8-932B-479284469287}"/>
              </a:ext>
            </a:extLst>
          </p:cNvPr>
          <p:cNvSpPr txBox="1">
            <a:spLocks/>
          </p:cNvSpPr>
          <p:nvPr/>
        </p:nvSpPr>
        <p:spPr>
          <a:xfrm>
            <a:off x="531506" y="1623122"/>
            <a:ext cx="10140211" cy="508016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Other 2D plot types: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hlinkClick r:id="rId3"/>
              </a:rPr>
              <a:t>Log–Log plots</a:t>
            </a:r>
            <a:r>
              <a:rPr lang="en-GB" dirty="0"/>
              <a:t>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hlinkClick r:id="rId4"/>
              </a:rPr>
              <a:t>Bar graphs</a:t>
            </a:r>
            <a:r>
              <a:rPr lang="en-GB" dirty="0"/>
              <a:t>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hlinkClick r:id="rId5"/>
              </a:rPr>
              <a:t>Pie charts</a:t>
            </a:r>
            <a:r>
              <a:rPr lang="en-GB" dirty="0"/>
              <a:t>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hlinkClick r:id="rId6"/>
              </a:rPr>
              <a:t>Histograms</a:t>
            </a:r>
            <a:r>
              <a:rPr lang="en-GB" dirty="0"/>
              <a:t>.</a:t>
            </a:r>
          </a:p>
          <a:p>
            <a:pPr marL="0" indent="0">
              <a:spcBef>
                <a:spcPts val="2400"/>
              </a:spcBef>
              <a:buFont typeface="Arial" panose="020B0604020202020204" pitchFamily="34" charset="0"/>
              <a:buNone/>
            </a:pPr>
            <a:r>
              <a:rPr lang="en-GB" dirty="0"/>
              <a:t>Read the documentation to learn more about 3D plot types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hlinkClick r:id="rId7"/>
              </a:rPr>
              <a:t>Surface plots</a:t>
            </a:r>
            <a:r>
              <a:rPr lang="en-GB" dirty="0"/>
              <a:t>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hlinkClick r:id="rId8"/>
              </a:rPr>
              <a:t>Wireframe plots</a:t>
            </a:r>
            <a:r>
              <a:rPr lang="en-GB" dirty="0"/>
              <a:t>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hlinkClick r:id="rId9"/>
              </a:rPr>
              <a:t>Contour plots</a:t>
            </a:r>
            <a:r>
              <a:rPr lang="en-GB" dirty="0"/>
              <a:t>.</a:t>
            </a:r>
          </a:p>
          <a:p>
            <a:pPr lvl="1">
              <a:spcBef>
                <a:spcPts val="1200"/>
              </a:spcBef>
            </a:pPr>
            <a:r>
              <a:rPr lang="en-GB" dirty="0">
                <a:hlinkClick r:id="rId10"/>
              </a:rPr>
              <a:t>Animations and movies</a:t>
            </a:r>
            <a:r>
              <a:rPr lang="en-GB" dirty="0"/>
              <a:t>.</a:t>
            </a:r>
          </a:p>
          <a:p>
            <a:pPr>
              <a:spcBef>
                <a:spcPts val="120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5504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41F4B50-8AD0-4AAB-BBCE-3121F3FA2916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6134CDC9-F54A-49BB-9AB2-7004461482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255DE6-A950-4224-85DF-E59C5F8008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1868</TotalTime>
  <Words>452</Words>
  <Application>Microsoft Office PowerPoint</Application>
  <PresentationFormat>Widescreen</PresentationFormat>
  <Paragraphs>78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Times New Roman</vt:lpstr>
      <vt:lpstr>Office Theme</vt:lpstr>
      <vt:lpstr>MATLAB Graphics: Improving the Plots</vt:lpstr>
      <vt:lpstr>Subplots</vt:lpstr>
      <vt:lpstr>Example Subplots - 1</vt:lpstr>
      <vt:lpstr>Example Subplots - 2</vt:lpstr>
      <vt:lpstr>Example Subplots - 3</vt:lpstr>
      <vt:lpstr>Plotting options</vt:lpstr>
      <vt:lpstr>Example of Kepler's 3rd law</vt:lpstr>
      <vt:lpstr>Other plot types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69</cp:revision>
  <dcterms:created xsi:type="dcterms:W3CDTF">2021-01-06T14:22:07Z</dcterms:created>
  <dcterms:modified xsi:type="dcterms:W3CDTF">2024-06-24T14:46:13Z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